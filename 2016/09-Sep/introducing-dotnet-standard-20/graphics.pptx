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2" r:id="rId4"/>
    <p:sldId id="256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5050"/>
    <a:srgbClr val="CFCFCF"/>
    <a:srgbClr val="FFFFFF"/>
    <a:srgbClr val="B9D4ED"/>
    <a:srgbClr val="9BC2E5"/>
    <a:srgbClr val="E6E6E6"/>
    <a:srgbClr val="A9A9A9"/>
    <a:srgbClr val="5B9BD5"/>
    <a:srgbClr val="FF8C00"/>
    <a:srgbClr val="107C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90" d="100"/>
          <a:sy n="90" d="100"/>
        </p:scale>
        <p:origin x="87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3E47-5F36-48BA-9B57-B18F4BD69A91}" type="datetimeFigureOut">
              <a:rPr lang="en-US" smtClean="0"/>
              <a:t>9/23/2016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C2FA-54EE-4814-9A34-6CCABCA7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286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3E47-5F36-48BA-9B57-B18F4BD69A91}" type="datetimeFigureOut">
              <a:rPr lang="en-US" smtClean="0"/>
              <a:t>9/23/2016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C2FA-54EE-4814-9A34-6CCABCA7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055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3E47-5F36-48BA-9B57-B18F4BD69A91}" type="datetimeFigureOut">
              <a:rPr lang="en-US" smtClean="0"/>
              <a:t>9/23/2016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C2FA-54EE-4814-9A34-6CCABCA7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67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3E47-5F36-48BA-9B57-B18F4BD69A91}" type="datetimeFigureOut">
              <a:rPr lang="en-US" smtClean="0"/>
              <a:t>9/23/2016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C2FA-54EE-4814-9A34-6CCABCA7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659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3E47-5F36-48BA-9B57-B18F4BD69A91}" type="datetimeFigureOut">
              <a:rPr lang="en-US" smtClean="0"/>
              <a:t>9/23/2016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C2FA-54EE-4814-9A34-6CCABCA7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8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3E47-5F36-48BA-9B57-B18F4BD69A91}" type="datetimeFigureOut">
              <a:rPr lang="en-US" smtClean="0"/>
              <a:t>9/23/2016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C2FA-54EE-4814-9A34-6CCABCA7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22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3E47-5F36-48BA-9B57-B18F4BD69A91}" type="datetimeFigureOut">
              <a:rPr lang="en-US" smtClean="0"/>
              <a:t>9/23/2016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C2FA-54EE-4814-9A34-6CCABCA7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448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3E47-5F36-48BA-9B57-B18F4BD69A91}" type="datetimeFigureOut">
              <a:rPr lang="en-US" smtClean="0"/>
              <a:t>9/23/2016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C2FA-54EE-4814-9A34-6CCABCA7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4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3E47-5F36-48BA-9B57-B18F4BD69A91}" type="datetimeFigureOut">
              <a:rPr lang="en-US" smtClean="0"/>
              <a:t>9/23/2016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C2FA-54EE-4814-9A34-6CCABCA7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839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3E47-5F36-48BA-9B57-B18F4BD69A91}" type="datetimeFigureOut">
              <a:rPr lang="en-US" smtClean="0"/>
              <a:t>9/23/2016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C2FA-54EE-4814-9A34-6CCABCA7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967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83E47-5F36-48BA-9B57-B18F4BD69A91}" type="datetimeFigureOut">
              <a:rPr lang="en-US" smtClean="0"/>
              <a:t>9/23/2016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DC2FA-54EE-4814-9A34-6CCABCA7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64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683E47-5F36-48BA-9B57-B18F4BD69A91}" type="datetimeFigureOut">
              <a:rPr lang="en-US" smtClean="0"/>
              <a:t>9/23/2016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ADC2FA-54EE-4814-9A34-6CCABCA7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294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 bwMode="auto">
          <a:xfrm>
            <a:off x="2106646" y="840013"/>
            <a:ext cx="2913381" cy="3944269"/>
          </a:xfrm>
          <a:prstGeom prst="rect">
            <a:avLst/>
          </a:prstGeom>
          <a:solidFill>
            <a:srgbClr val="107C10"/>
          </a:solidFill>
          <a:ln w="254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179285" tIns="143428" rIns="179285" bIns="143428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89462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45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4679">
                      <a:srgbClr val="FFFFFF"/>
                    </a:gs>
                    <a:gs pos="38000">
                      <a:srgbClr val="FFFFFF"/>
                    </a:gs>
                  </a:gsLst>
                  <a:lin ang="5400000" scaled="1"/>
                </a:gradFill>
                <a:effectLst/>
                <a:uLnTx/>
                <a:uFillTx/>
                <a:latin typeface="Segoe UI Light"/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6646" y="840013"/>
            <a:ext cx="2913381" cy="627498"/>
          </a:xfrm>
          <a:prstGeom prst="rect">
            <a:avLst/>
          </a:prstGeom>
          <a:solidFill>
            <a:srgbClr val="107C10">
              <a:lumMod val="75000"/>
            </a:srgbClr>
          </a:solidFill>
        </p:spPr>
        <p:txBody>
          <a:bodyPr wrap="square" lIns="179285" tIns="143428" rIns="179285" bIns="143428" rtlCol="0" anchor="ctr">
            <a:noAutofit/>
          </a:bodyPr>
          <a:lstStyle/>
          <a:p>
            <a:pPr marL="0" marR="0" lvl="0" indent="0" algn="ctr" defTabSz="89621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1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.NET FRAMEWORK</a:t>
            </a:r>
          </a:p>
        </p:txBody>
      </p:sp>
      <p:sp>
        <p:nvSpPr>
          <p:cNvPr id="40" name="Rectangle 39"/>
          <p:cNvSpPr/>
          <p:nvPr/>
        </p:nvSpPr>
        <p:spPr bwMode="auto">
          <a:xfrm>
            <a:off x="5064815" y="840013"/>
            <a:ext cx="2913381" cy="3944269"/>
          </a:xfrm>
          <a:prstGeom prst="rect">
            <a:avLst/>
          </a:prstGeom>
          <a:solidFill>
            <a:srgbClr val="0078D7"/>
          </a:solidFill>
          <a:ln w="254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179285" tIns="143428" rIns="179285" bIns="143428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89462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45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4679">
                      <a:srgbClr val="FFFFFF"/>
                    </a:gs>
                    <a:gs pos="38000">
                      <a:srgbClr val="FFFFFF"/>
                    </a:gs>
                  </a:gsLst>
                  <a:lin ang="5400000" scaled="1"/>
                </a:gradFill>
                <a:effectLst/>
                <a:uLnTx/>
                <a:uFillTx/>
                <a:latin typeface="Segoe UI Light"/>
              </a:rP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64815" y="840013"/>
            <a:ext cx="2913381" cy="627498"/>
          </a:xfrm>
          <a:prstGeom prst="rect">
            <a:avLst/>
          </a:prstGeom>
          <a:solidFill>
            <a:srgbClr val="0078D7">
              <a:lumMod val="75000"/>
            </a:srgbClr>
          </a:solidFill>
        </p:spPr>
        <p:txBody>
          <a:bodyPr wrap="square" lIns="179285" tIns="143428" rIns="179285" bIns="143428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2000" kern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0" marR="0" lvl="0" indent="0" defTabSz="91422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1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.NET CORE</a:t>
            </a:r>
          </a:p>
        </p:txBody>
      </p:sp>
      <p:sp>
        <p:nvSpPr>
          <p:cNvPr id="43" name="Rectangle 42"/>
          <p:cNvSpPr/>
          <p:nvPr/>
        </p:nvSpPr>
        <p:spPr bwMode="auto">
          <a:xfrm>
            <a:off x="8022985" y="840014"/>
            <a:ext cx="2913381" cy="3944269"/>
          </a:xfrm>
          <a:prstGeom prst="rect">
            <a:avLst/>
          </a:prstGeom>
          <a:solidFill>
            <a:srgbClr val="FF8C00"/>
          </a:solidFill>
          <a:ln w="254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179285" tIns="143428" rIns="179285" bIns="143428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89462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45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4679">
                      <a:srgbClr val="FFFFFF"/>
                    </a:gs>
                    <a:gs pos="38000">
                      <a:srgbClr val="FFFFFF"/>
                    </a:gs>
                  </a:gsLst>
                  <a:lin ang="5400000" scaled="1"/>
                </a:gradFill>
                <a:effectLst/>
                <a:uLnTx/>
                <a:uFillTx/>
                <a:latin typeface="Segoe UI Light"/>
              </a:rP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22985" y="840014"/>
            <a:ext cx="2913381" cy="627498"/>
          </a:xfrm>
          <a:prstGeom prst="rect">
            <a:avLst/>
          </a:prstGeom>
          <a:solidFill>
            <a:srgbClr val="FF8C00">
              <a:lumMod val="75000"/>
            </a:srgbClr>
          </a:solidFill>
        </p:spPr>
        <p:txBody>
          <a:bodyPr wrap="square" lIns="179285" tIns="143428" rIns="179285" bIns="143428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2000" kern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0" marR="0" lvl="0" indent="0" defTabSz="91422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1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XAMARIN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6646" y="1557146"/>
            <a:ext cx="8829784" cy="1523922"/>
          </a:xfrm>
          <a:prstGeom prst="rect">
            <a:avLst/>
          </a:prstGeom>
          <a:solidFill>
            <a:srgbClr val="000000">
              <a:alpha val="20000"/>
            </a:srgbClr>
          </a:solidFill>
        </p:spPr>
        <p:txBody>
          <a:bodyPr wrap="square" lIns="179285" tIns="143428" rIns="179285" bIns="143428" rtlCol="0" anchor="ctr">
            <a:noAutofit/>
          </a:bodyPr>
          <a:lstStyle/>
          <a:p>
            <a:pPr algn="ctr" defTabSz="896214">
              <a:lnSpc>
                <a:spcPct val="90000"/>
              </a:lnSpc>
            </a:pPr>
            <a:endParaRPr lang="en-US" sz="1568" kern="0" dirty="0">
              <a:solidFill>
                <a:sysClr val="windowText" lastClr="000000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299872" y="1557146"/>
            <a:ext cx="717140" cy="1523922"/>
          </a:xfrm>
          <a:prstGeom prst="rect">
            <a:avLst/>
          </a:prstGeom>
          <a:solidFill>
            <a:srgbClr val="CFCFCF"/>
          </a:solidFill>
        </p:spPr>
        <p:txBody>
          <a:bodyPr vert="vert270" wrap="square" lIns="179285" tIns="143428" rIns="179285" bIns="143428" rtlCol="0" anchor="ctr" anchorCtr="0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1600" kern="0">
                <a:gradFill>
                  <a:gsLst>
                    <a:gs pos="2804">
                      <a:srgbClr val="505050"/>
                    </a:gs>
                    <a:gs pos="26000">
                      <a:srgbClr val="505050"/>
                    </a:gs>
                  </a:gsLst>
                  <a:lin ang="5400000" scaled="1"/>
                </a:gradFill>
                <a:cs typeface="Segoe UI Semilight" panose="020B0402040204020203" pitchFamily="34" charset="0"/>
              </a:defRPr>
            </a:lvl1pPr>
          </a:lstStyle>
          <a:p>
            <a:r>
              <a:rPr lang="en-US" sz="1568" b="1" dirty="0">
                <a:latin typeface="Segoe UI"/>
              </a:rPr>
              <a:t>APP</a:t>
            </a:r>
          </a:p>
          <a:p>
            <a:r>
              <a:rPr lang="en-US" sz="1568" b="1" dirty="0">
                <a:latin typeface="Segoe UI"/>
              </a:rPr>
              <a:t>MODELS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06646" y="3170692"/>
            <a:ext cx="8829784" cy="1523922"/>
          </a:xfrm>
          <a:prstGeom prst="rect">
            <a:avLst/>
          </a:prstGeom>
          <a:solidFill>
            <a:srgbClr val="000000">
              <a:alpha val="20000"/>
            </a:srgbClr>
          </a:solidFill>
        </p:spPr>
        <p:txBody>
          <a:bodyPr wrap="square" lIns="179285" tIns="143428" rIns="179285" bIns="143428" rtlCol="0" anchor="ctr">
            <a:noAutofit/>
          </a:bodyPr>
          <a:lstStyle/>
          <a:p>
            <a:pPr algn="ctr" defTabSz="896214">
              <a:lnSpc>
                <a:spcPct val="90000"/>
              </a:lnSpc>
            </a:pPr>
            <a:endParaRPr lang="en-US" sz="1568" kern="0" dirty="0">
              <a:solidFill>
                <a:sysClr val="windowText" lastClr="000000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299872" y="3170692"/>
            <a:ext cx="717140" cy="1523922"/>
          </a:xfrm>
          <a:prstGeom prst="rect">
            <a:avLst/>
          </a:prstGeom>
          <a:solidFill>
            <a:srgbClr val="CFCFCF"/>
          </a:solidFill>
        </p:spPr>
        <p:txBody>
          <a:bodyPr vert="vert270" wrap="square" lIns="179285" tIns="143428" rIns="179285" bIns="143428" rtlCol="0" anchor="ctr" anchorCtr="0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1600" b="1" kern="0">
                <a:gradFill>
                  <a:gsLst>
                    <a:gs pos="2804">
                      <a:srgbClr val="505050"/>
                    </a:gs>
                    <a:gs pos="26000">
                      <a:srgbClr val="505050"/>
                    </a:gs>
                  </a:gsLst>
                  <a:lin ang="5400000" scaled="1"/>
                </a:gradFill>
                <a:cs typeface="Segoe UI Semilight" panose="020B0402040204020203" pitchFamily="34" charset="0"/>
              </a:defRPr>
            </a:lvl1pPr>
          </a:lstStyle>
          <a:p>
            <a:r>
              <a:rPr lang="en-US" sz="1568" dirty="0">
                <a:latin typeface="Segoe UI"/>
              </a:rPr>
              <a:t>BASE</a:t>
            </a:r>
          </a:p>
          <a:p>
            <a:r>
              <a:rPr lang="en-US" sz="1568" dirty="0">
                <a:latin typeface="Segoe UI"/>
              </a:rPr>
              <a:t>LIBRARIES</a:t>
            </a:r>
          </a:p>
        </p:txBody>
      </p:sp>
      <p:grpSp>
        <p:nvGrpSpPr>
          <p:cNvPr id="49" name="Group 48"/>
          <p:cNvGrpSpPr/>
          <p:nvPr/>
        </p:nvGrpSpPr>
        <p:grpSpPr>
          <a:xfrm>
            <a:off x="2106645" y="4918722"/>
            <a:ext cx="8829784" cy="1120531"/>
            <a:chOff x="1973256" y="5222473"/>
            <a:chExt cx="8553106" cy="1120850"/>
          </a:xfrm>
        </p:grpSpPr>
        <p:sp>
          <p:nvSpPr>
            <p:cNvPr id="50" name="TextBox 49"/>
            <p:cNvSpPr txBox="1"/>
            <p:nvPr/>
          </p:nvSpPr>
          <p:spPr>
            <a:xfrm>
              <a:off x="1973256" y="5222473"/>
              <a:ext cx="8553106" cy="1120850"/>
            </a:xfrm>
            <a:prstGeom prst="rect">
              <a:avLst/>
            </a:prstGeom>
            <a:solidFill>
              <a:srgbClr val="D2D2D2"/>
            </a:solidFill>
          </p:spPr>
          <p:txBody>
            <a:bodyPr wrap="square" lIns="179285" tIns="143428" rIns="179285" bIns="143428" rtlCol="0" anchor="ctr">
              <a:noAutofit/>
            </a:bodyPr>
            <a:lstStyle/>
            <a:p>
              <a:pPr marL="0" marR="0" lvl="0" indent="0" algn="ctr" defTabSz="89621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68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059735" y="5715646"/>
              <a:ext cx="2648424" cy="538008"/>
            </a:xfrm>
            <a:prstGeom prst="rect">
              <a:avLst/>
            </a:prstGeom>
            <a:solidFill>
              <a:srgbClr val="000000">
                <a:alpha val="10196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kern="0">
                  <a:solidFill>
                    <a:sysClr val="windowText" lastClr="00000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defRPr>
              </a:lvl1pPr>
            </a:lstStyle>
            <a:p>
              <a:pPr marL="0" marR="0" lvl="0" indent="0" algn="ctr" defTabSz="91422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68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2804">
                        <a:srgbClr val="505050"/>
                      </a:gs>
                      <a:gs pos="26000">
                        <a:srgbClr val="505050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Segoe UI"/>
                  <a:cs typeface="Segoe UI Semilight" panose="020B0402040204020203" pitchFamily="34" charset="0"/>
                </a:rPr>
                <a:t>Compilers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925243" y="5715646"/>
              <a:ext cx="2648424" cy="538008"/>
            </a:xfrm>
            <a:prstGeom prst="rect">
              <a:avLst/>
            </a:prstGeom>
            <a:solidFill>
              <a:srgbClr val="000000">
                <a:alpha val="10196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b="1" kern="0">
                  <a:gradFill>
                    <a:gsLst>
                      <a:gs pos="2804">
                        <a:srgbClr val="505050"/>
                      </a:gs>
                      <a:gs pos="26000">
                        <a:srgbClr val="505050"/>
                      </a:gs>
                    </a:gsLst>
                    <a:lin ang="5400000" scaled="1"/>
                  </a:gradFill>
                  <a:cs typeface="Segoe UI Semilight" panose="020B0402040204020203" pitchFamily="34" charset="0"/>
                </a:defRPr>
              </a:lvl1pPr>
            </a:lstStyle>
            <a:p>
              <a:pPr marL="0" marR="0" lvl="0" indent="0" algn="ctr" defTabSz="91422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68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2804">
                        <a:srgbClr val="505050"/>
                      </a:gs>
                      <a:gs pos="26000">
                        <a:srgbClr val="505050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Segoe UI"/>
                  <a:cs typeface="Segoe UI Semilight" panose="020B0402040204020203" pitchFamily="34" charset="0"/>
                </a:rPr>
                <a:t>Languages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790751" y="5715646"/>
              <a:ext cx="2648424" cy="538008"/>
            </a:xfrm>
            <a:prstGeom prst="rect">
              <a:avLst/>
            </a:prstGeom>
            <a:solidFill>
              <a:srgbClr val="000000">
                <a:alpha val="10196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b="1" kern="0">
                  <a:gradFill>
                    <a:gsLst>
                      <a:gs pos="2804">
                        <a:srgbClr val="505050"/>
                      </a:gs>
                      <a:gs pos="26000">
                        <a:srgbClr val="505050"/>
                      </a:gs>
                    </a:gsLst>
                    <a:lin ang="5400000" scaled="1"/>
                  </a:gradFill>
                  <a:cs typeface="Segoe UI Semilight" panose="020B0402040204020203" pitchFamily="34" charset="0"/>
                </a:defRPr>
              </a:lvl1pPr>
            </a:lstStyle>
            <a:p>
              <a:pPr marL="0" marR="0" lvl="0" indent="0" algn="ctr" defTabSz="91422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68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2804">
                        <a:srgbClr val="505050"/>
                      </a:gs>
                      <a:gs pos="26000">
                        <a:srgbClr val="505050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Segoe UI"/>
                  <a:cs typeface="Segoe UI Semilight" panose="020B0402040204020203" pitchFamily="34" charset="0"/>
                </a:rPr>
                <a:t>Runtime components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973256" y="5222474"/>
              <a:ext cx="8553106" cy="403506"/>
            </a:xfrm>
            <a:prstGeom prst="rect">
              <a:avLst/>
            </a:prstGeom>
            <a:solidFill>
              <a:srgbClr val="000000">
                <a:alpha val="10196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b="1" kern="0">
                  <a:gradFill>
                    <a:gsLst>
                      <a:gs pos="2804">
                        <a:srgbClr val="505050"/>
                      </a:gs>
                      <a:gs pos="26000">
                        <a:srgbClr val="505050"/>
                      </a:gs>
                    </a:gsLst>
                    <a:lin ang="5400000" scaled="1"/>
                  </a:gradFill>
                  <a:cs typeface="Segoe UI Semilight" panose="020B0402040204020203" pitchFamily="34" charset="0"/>
                </a:defRPr>
              </a:lvl1pPr>
            </a:lstStyle>
            <a:p>
              <a:pPr marL="0" marR="0" lvl="0" indent="0" algn="ctr" defTabSz="91422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68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2804">
                        <a:srgbClr val="505050"/>
                      </a:gs>
                      <a:gs pos="26000">
                        <a:srgbClr val="505050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Segoe UI"/>
                  <a:cs typeface="Segoe UI Semilight" panose="020B0402040204020203" pitchFamily="34" charset="0"/>
                </a:rPr>
                <a:t>COMMON INFRASTRUCTURE</a:t>
              </a: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2195923" y="3641315"/>
            <a:ext cx="2734096" cy="582676"/>
          </a:xfrm>
          <a:prstGeom prst="rect">
            <a:avLst/>
          </a:prstGeom>
          <a:solidFill>
            <a:srgbClr val="000000">
              <a:alpha val="25000"/>
            </a:srgbClr>
          </a:solidFill>
        </p:spPr>
        <p:txBody>
          <a:bodyPr wrap="square" lIns="179285" tIns="143428" rIns="179285" bIns="143428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1600" ker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1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 sz="1568" b="1" dirty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</a:rPr>
              <a:t>Base Class Library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54092" y="3641315"/>
            <a:ext cx="2734096" cy="582676"/>
          </a:xfrm>
          <a:prstGeom prst="rect">
            <a:avLst/>
          </a:prstGeom>
          <a:solidFill>
            <a:srgbClr val="000000">
              <a:alpha val="25000"/>
            </a:srgbClr>
          </a:solidFill>
        </p:spPr>
        <p:txBody>
          <a:bodyPr wrap="square" lIns="179285" tIns="143428" rIns="179285" bIns="143428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1600" ker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1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 sz="1568" b="1" dirty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</a:rPr>
              <a:t> Core Library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12262" y="3641315"/>
            <a:ext cx="2734096" cy="582676"/>
          </a:xfrm>
          <a:prstGeom prst="rect">
            <a:avLst/>
          </a:prstGeom>
          <a:solidFill>
            <a:srgbClr val="000000">
              <a:alpha val="25000"/>
            </a:srgbClr>
          </a:solidFill>
        </p:spPr>
        <p:txBody>
          <a:bodyPr wrap="square" lIns="179285" tIns="143428" rIns="179285" bIns="143428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1600" ker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1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 sz="1568" b="1" dirty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/>
              </a:rPr>
              <a:t>Mono Class Library</a:t>
            </a:r>
          </a:p>
        </p:txBody>
      </p:sp>
      <p:grpSp>
        <p:nvGrpSpPr>
          <p:cNvPr id="58" name="Group 57"/>
          <p:cNvGrpSpPr/>
          <p:nvPr/>
        </p:nvGrpSpPr>
        <p:grpSpPr>
          <a:xfrm>
            <a:off x="2195923" y="1714020"/>
            <a:ext cx="2734096" cy="1210174"/>
            <a:chOff x="1188720" y="2356171"/>
            <a:chExt cx="2788920" cy="1234440"/>
          </a:xfrm>
        </p:grpSpPr>
        <p:sp>
          <p:nvSpPr>
            <p:cNvPr id="59" name="TextBox 58"/>
            <p:cNvSpPr txBox="1"/>
            <p:nvPr/>
          </p:nvSpPr>
          <p:spPr>
            <a:xfrm>
              <a:off x="1897380" y="2996251"/>
              <a:ext cx="1371600" cy="594360"/>
            </a:xfrm>
            <a:prstGeom prst="rect">
              <a:avLst/>
            </a:prstGeom>
            <a:solidFill>
              <a:srgbClr val="000000">
                <a:alpha val="25000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kern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1"/>
                  </a:gradFill>
                  <a:latin typeface="Segoe UI Semibold" panose="020B0702040204020203" pitchFamily="34" charset="0"/>
                  <a:cs typeface="Segoe UI Semibold" panose="020B0702040204020203" pitchFamily="34" charset="0"/>
                </a:defRPr>
              </a:lvl1pPr>
            </a:lstStyle>
            <a:p>
              <a:r>
                <a:rPr lang="en-US" sz="1568" b="1" dirty="0">
                  <a:gradFill>
                    <a:gsLst>
                      <a:gs pos="125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"/>
                </a:rPr>
                <a:t>ASP.NET</a:t>
              </a: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1188720" y="2356171"/>
              <a:ext cx="2788920" cy="594360"/>
              <a:chOff x="1645920" y="2384389"/>
              <a:chExt cx="2417064" cy="594360"/>
            </a:xfrm>
          </p:grpSpPr>
          <p:sp>
            <p:nvSpPr>
              <p:cNvPr id="61" name="TextBox 60"/>
              <p:cNvSpPr txBox="1"/>
              <p:nvPr/>
            </p:nvSpPr>
            <p:spPr>
              <a:xfrm>
                <a:off x="2874264" y="2384389"/>
                <a:ext cx="1188720" cy="594360"/>
              </a:xfrm>
              <a:prstGeom prst="rect">
                <a:avLst/>
              </a:prstGeom>
              <a:solidFill>
                <a:srgbClr val="000000">
                  <a:alpha val="25000"/>
                </a:srgbClr>
              </a:solidFill>
            </p:spPr>
            <p:txBody>
              <a:bodyPr wrap="square" lIns="179285" tIns="143428" rIns="179285" bIns="143428" rtlCol="0" anchor="ctr">
                <a:noAutofit/>
              </a:bodyPr>
              <a:lstStyle>
                <a:defPPr>
                  <a:defRPr lang="en-US"/>
                </a:defPPr>
                <a:lvl1pPr algn="ctr" defTabSz="914224">
                  <a:lnSpc>
                    <a:spcPct val="90000"/>
                  </a:lnSpc>
                  <a:defRPr sz="1600" kern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1"/>
                    </a:gradFill>
                    <a:latin typeface="Segoe UI Semibold" panose="020B0702040204020203" pitchFamily="34" charset="0"/>
                    <a:cs typeface="Segoe UI Semibold" panose="020B0702040204020203" pitchFamily="34" charset="0"/>
                  </a:defRPr>
                </a:lvl1pPr>
              </a:lstStyle>
              <a:p>
                <a:r>
                  <a:rPr lang="en-US" sz="1568" b="1" dirty="0">
                    <a:gradFill>
                      <a:gsLst>
                        <a:gs pos="125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Segoe UI"/>
                  </a:rPr>
                  <a:t>Windows Forms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1645920" y="2384389"/>
                <a:ext cx="1188720" cy="594360"/>
              </a:xfrm>
              <a:prstGeom prst="rect">
                <a:avLst/>
              </a:prstGeom>
              <a:solidFill>
                <a:srgbClr val="000000">
                  <a:alpha val="25000"/>
                </a:srgbClr>
              </a:solidFill>
            </p:spPr>
            <p:txBody>
              <a:bodyPr wrap="square" lIns="179285" tIns="143428" rIns="179285" bIns="143428" rtlCol="0" anchor="ctr">
                <a:noAutofit/>
              </a:bodyPr>
              <a:lstStyle>
                <a:defPPr>
                  <a:defRPr lang="en-US"/>
                </a:defPPr>
                <a:lvl1pPr algn="ctr" defTabSz="914224">
                  <a:lnSpc>
                    <a:spcPct val="90000"/>
                  </a:lnSpc>
                  <a:defRPr sz="1600" kern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1"/>
                    </a:gradFill>
                    <a:latin typeface="Segoe UI Semibold" panose="020B0702040204020203" pitchFamily="34" charset="0"/>
                    <a:cs typeface="Segoe UI Semibold" panose="020B0702040204020203" pitchFamily="34" charset="0"/>
                  </a:defRPr>
                </a:lvl1pPr>
              </a:lstStyle>
              <a:p>
                <a:r>
                  <a:rPr lang="en-US" sz="1568" b="1" dirty="0">
                    <a:gradFill>
                      <a:gsLst>
                        <a:gs pos="125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Segoe UI"/>
                  </a:rPr>
                  <a:t>WPF</a:t>
                </a:r>
              </a:p>
            </p:txBody>
          </p:sp>
        </p:grpSp>
      </p:grpSp>
      <p:grpSp>
        <p:nvGrpSpPr>
          <p:cNvPr id="63" name="Group 62"/>
          <p:cNvGrpSpPr/>
          <p:nvPr/>
        </p:nvGrpSpPr>
        <p:grpSpPr>
          <a:xfrm>
            <a:off x="5154124" y="1714020"/>
            <a:ext cx="2734096" cy="1210174"/>
            <a:chOff x="4206240" y="2102819"/>
            <a:chExt cx="2788920" cy="1234440"/>
          </a:xfrm>
        </p:grpSpPr>
        <p:sp>
          <p:nvSpPr>
            <p:cNvPr id="64" name="TextBox 63"/>
            <p:cNvSpPr txBox="1"/>
            <p:nvPr/>
          </p:nvSpPr>
          <p:spPr>
            <a:xfrm>
              <a:off x="4206240" y="2102819"/>
              <a:ext cx="1737360" cy="594360"/>
            </a:xfrm>
            <a:prstGeom prst="rect">
              <a:avLst/>
            </a:prstGeom>
            <a:solidFill>
              <a:srgbClr val="000000">
                <a:alpha val="25000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kern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1"/>
                  </a:gradFill>
                  <a:latin typeface="Segoe UI Semibold" panose="020B0702040204020203" pitchFamily="34" charset="0"/>
                  <a:cs typeface="Segoe UI Semibold" panose="020B0702040204020203" pitchFamily="34" charset="0"/>
                </a:defRPr>
              </a:lvl1pPr>
            </a:lstStyle>
            <a:p>
              <a:r>
                <a:rPr lang="en-US" sz="1568" b="1" dirty="0">
                  <a:gradFill>
                    <a:gsLst>
                      <a:gs pos="125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"/>
                </a:rPr>
                <a:t>UWP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257800" y="2742899"/>
              <a:ext cx="1737360" cy="594360"/>
            </a:xfrm>
            <a:prstGeom prst="rect">
              <a:avLst/>
            </a:prstGeom>
            <a:solidFill>
              <a:srgbClr val="000000">
                <a:alpha val="25000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kern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1"/>
                  </a:gradFill>
                  <a:latin typeface="Segoe UI Semibold" panose="020B0702040204020203" pitchFamily="34" charset="0"/>
                  <a:cs typeface="Segoe UI Semibold" panose="020B0702040204020203" pitchFamily="34" charset="0"/>
                </a:defRPr>
              </a:lvl1pPr>
            </a:lstStyle>
            <a:p>
              <a:r>
                <a:rPr lang="en-US" sz="1568" b="1" dirty="0">
                  <a:gradFill>
                    <a:gsLst>
                      <a:gs pos="125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"/>
                </a:rPr>
                <a:t>ASP.NET Core</a:t>
              </a: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8112326" y="1714020"/>
            <a:ext cx="2734096" cy="1210174"/>
            <a:chOff x="7223760" y="2102819"/>
            <a:chExt cx="2788920" cy="1234440"/>
          </a:xfrm>
        </p:grpSpPr>
        <p:sp>
          <p:nvSpPr>
            <p:cNvPr id="67" name="TextBox 66"/>
            <p:cNvSpPr txBox="1"/>
            <p:nvPr/>
          </p:nvSpPr>
          <p:spPr>
            <a:xfrm>
              <a:off x="7223760" y="2102819"/>
              <a:ext cx="1371600" cy="594360"/>
            </a:xfrm>
            <a:prstGeom prst="rect">
              <a:avLst/>
            </a:prstGeom>
            <a:solidFill>
              <a:srgbClr val="000000">
                <a:alpha val="25000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kern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1"/>
                  </a:gradFill>
                  <a:latin typeface="Segoe UI Semibold" panose="020B0702040204020203" pitchFamily="34" charset="0"/>
                  <a:cs typeface="Segoe UI Semibold" panose="020B0702040204020203" pitchFamily="34" charset="0"/>
                </a:defRPr>
              </a:lvl1pPr>
            </a:lstStyle>
            <a:p>
              <a:r>
                <a:rPr lang="en-US" sz="1568" b="1" dirty="0">
                  <a:gradFill>
                    <a:gsLst>
                      <a:gs pos="125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"/>
                </a:rPr>
                <a:t>iOS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8641080" y="2422859"/>
              <a:ext cx="1371600" cy="594360"/>
            </a:xfrm>
            <a:prstGeom prst="rect">
              <a:avLst/>
            </a:prstGeom>
            <a:solidFill>
              <a:srgbClr val="000000">
                <a:alpha val="25000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kern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1"/>
                  </a:gradFill>
                  <a:latin typeface="Segoe UI Semibold" panose="020B0702040204020203" pitchFamily="34" charset="0"/>
                  <a:cs typeface="Segoe UI Semibold" panose="020B0702040204020203" pitchFamily="34" charset="0"/>
                </a:defRPr>
              </a:lvl1pPr>
            </a:lstStyle>
            <a:p>
              <a:r>
                <a:rPr lang="en-US" sz="1568" b="1" dirty="0">
                  <a:gradFill>
                    <a:gsLst>
                      <a:gs pos="125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"/>
                </a:rPr>
                <a:t>Android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223760" y="2742899"/>
              <a:ext cx="1371600" cy="594360"/>
            </a:xfrm>
            <a:prstGeom prst="rect">
              <a:avLst/>
            </a:prstGeom>
            <a:solidFill>
              <a:srgbClr val="000000">
                <a:alpha val="25000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kern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1"/>
                  </a:gradFill>
                  <a:latin typeface="Segoe UI Semibold" panose="020B0702040204020203" pitchFamily="34" charset="0"/>
                  <a:cs typeface="Segoe UI Semibold" panose="020B0702040204020203" pitchFamily="34" charset="0"/>
                </a:defRPr>
              </a:lvl1pPr>
            </a:lstStyle>
            <a:p>
              <a:r>
                <a:rPr lang="en-US" sz="1568" b="1" dirty="0">
                  <a:gradFill>
                    <a:gsLst>
                      <a:gs pos="125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"/>
                </a:rPr>
                <a:t>OS 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146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 bwMode="auto">
          <a:xfrm>
            <a:off x="2106646" y="840014"/>
            <a:ext cx="2913381" cy="2241036"/>
          </a:xfrm>
          <a:prstGeom prst="rect">
            <a:avLst/>
          </a:prstGeom>
          <a:solidFill>
            <a:srgbClr val="107C10"/>
          </a:solidFill>
          <a:ln w="254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179285" tIns="143428" rIns="179285" bIns="143428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89462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45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4679">
                      <a:srgbClr val="FFFFFF"/>
                    </a:gs>
                    <a:gs pos="38000">
                      <a:srgbClr val="FFFFFF"/>
                    </a:gs>
                  </a:gsLst>
                  <a:lin ang="5400000" scaled="1"/>
                </a:gradFill>
                <a:effectLst/>
                <a:uLnTx/>
                <a:uFillTx/>
                <a:latin typeface="Segoe UI Light"/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6646" y="840013"/>
            <a:ext cx="2913381" cy="627498"/>
          </a:xfrm>
          <a:prstGeom prst="rect">
            <a:avLst/>
          </a:prstGeom>
          <a:solidFill>
            <a:srgbClr val="107C10">
              <a:lumMod val="75000"/>
            </a:srgbClr>
          </a:solidFill>
        </p:spPr>
        <p:txBody>
          <a:bodyPr wrap="square" lIns="179285" tIns="143428" rIns="179285" bIns="143428" rtlCol="0" anchor="ctr">
            <a:noAutofit/>
          </a:bodyPr>
          <a:lstStyle/>
          <a:p>
            <a:pPr marL="0" marR="0" lvl="0" indent="0" algn="ctr" defTabSz="89621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1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.NET FRAMEWORK</a:t>
            </a:r>
          </a:p>
        </p:txBody>
      </p:sp>
      <p:sp>
        <p:nvSpPr>
          <p:cNvPr id="40" name="Rectangle 39"/>
          <p:cNvSpPr/>
          <p:nvPr/>
        </p:nvSpPr>
        <p:spPr bwMode="auto">
          <a:xfrm>
            <a:off x="5064815" y="840014"/>
            <a:ext cx="2913381" cy="2241036"/>
          </a:xfrm>
          <a:prstGeom prst="rect">
            <a:avLst/>
          </a:prstGeom>
          <a:solidFill>
            <a:srgbClr val="0078D7"/>
          </a:solidFill>
          <a:ln w="254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179285" tIns="143428" rIns="179285" bIns="143428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89462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45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4679">
                      <a:srgbClr val="FFFFFF"/>
                    </a:gs>
                    <a:gs pos="38000">
                      <a:srgbClr val="FFFFFF"/>
                    </a:gs>
                  </a:gsLst>
                  <a:lin ang="5400000" scaled="1"/>
                </a:gradFill>
                <a:effectLst/>
                <a:uLnTx/>
                <a:uFillTx/>
                <a:latin typeface="Segoe UI Light"/>
              </a:rP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64815" y="840013"/>
            <a:ext cx="2913381" cy="627498"/>
          </a:xfrm>
          <a:prstGeom prst="rect">
            <a:avLst/>
          </a:prstGeom>
          <a:solidFill>
            <a:srgbClr val="0078D7">
              <a:lumMod val="75000"/>
            </a:srgbClr>
          </a:solidFill>
        </p:spPr>
        <p:txBody>
          <a:bodyPr wrap="square" lIns="179285" tIns="143428" rIns="179285" bIns="143428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2000" kern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0" marR="0" lvl="0" indent="0" defTabSz="91422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1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.NET CORE</a:t>
            </a:r>
          </a:p>
        </p:txBody>
      </p:sp>
      <p:sp>
        <p:nvSpPr>
          <p:cNvPr id="43" name="Rectangle 42"/>
          <p:cNvSpPr/>
          <p:nvPr/>
        </p:nvSpPr>
        <p:spPr bwMode="auto">
          <a:xfrm>
            <a:off x="8022985" y="840015"/>
            <a:ext cx="2913381" cy="2241036"/>
          </a:xfrm>
          <a:prstGeom prst="rect">
            <a:avLst/>
          </a:prstGeom>
          <a:solidFill>
            <a:srgbClr val="FF8C00"/>
          </a:solidFill>
          <a:ln w="254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179285" tIns="143428" rIns="179285" bIns="143428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89462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45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4679">
                      <a:srgbClr val="FFFFFF"/>
                    </a:gs>
                    <a:gs pos="38000">
                      <a:srgbClr val="FFFFFF"/>
                    </a:gs>
                  </a:gsLst>
                  <a:lin ang="5400000" scaled="1"/>
                </a:gradFill>
                <a:effectLst/>
                <a:uLnTx/>
                <a:uFillTx/>
                <a:latin typeface="Segoe UI Light"/>
              </a:rP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22985" y="840014"/>
            <a:ext cx="2913381" cy="627498"/>
          </a:xfrm>
          <a:prstGeom prst="rect">
            <a:avLst/>
          </a:prstGeom>
          <a:solidFill>
            <a:srgbClr val="FF8C00">
              <a:lumMod val="75000"/>
            </a:srgbClr>
          </a:solidFill>
        </p:spPr>
        <p:txBody>
          <a:bodyPr wrap="square" lIns="179285" tIns="143428" rIns="179285" bIns="143428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2000" kern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0" marR="0" lvl="0" indent="0" defTabSz="91422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1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XAMARIN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6646" y="1557146"/>
            <a:ext cx="8829784" cy="1523922"/>
          </a:xfrm>
          <a:prstGeom prst="rect">
            <a:avLst/>
          </a:prstGeom>
          <a:solidFill>
            <a:srgbClr val="000000">
              <a:alpha val="20000"/>
            </a:srgbClr>
          </a:solidFill>
        </p:spPr>
        <p:txBody>
          <a:bodyPr wrap="square" lIns="179285" tIns="143428" rIns="179285" bIns="143428" rtlCol="0" anchor="ctr">
            <a:noAutofit/>
          </a:bodyPr>
          <a:lstStyle/>
          <a:p>
            <a:pPr algn="ctr" defTabSz="896214">
              <a:lnSpc>
                <a:spcPct val="90000"/>
              </a:lnSpc>
            </a:pPr>
            <a:endParaRPr lang="en-US" sz="1568" kern="0" dirty="0">
              <a:solidFill>
                <a:sysClr val="windowText" lastClr="000000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299872" y="1557146"/>
            <a:ext cx="717140" cy="1523922"/>
          </a:xfrm>
          <a:prstGeom prst="rect">
            <a:avLst/>
          </a:prstGeom>
          <a:solidFill>
            <a:srgbClr val="CFCFCF"/>
          </a:solidFill>
        </p:spPr>
        <p:txBody>
          <a:bodyPr vert="vert270" wrap="square" lIns="179285" tIns="143428" rIns="179285" bIns="143428" rtlCol="0" anchor="ctr" anchorCtr="0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1600" kern="0">
                <a:gradFill>
                  <a:gsLst>
                    <a:gs pos="2804">
                      <a:srgbClr val="505050"/>
                    </a:gs>
                    <a:gs pos="26000">
                      <a:srgbClr val="505050"/>
                    </a:gs>
                  </a:gsLst>
                  <a:lin ang="5400000" scaled="1"/>
                </a:gradFill>
                <a:cs typeface="Segoe UI Semilight" panose="020B0402040204020203" pitchFamily="34" charset="0"/>
              </a:defRPr>
            </a:lvl1pPr>
          </a:lstStyle>
          <a:p>
            <a:r>
              <a:rPr lang="en-US" sz="1568" b="1" dirty="0">
                <a:latin typeface="Segoe UI"/>
              </a:rPr>
              <a:t>APP</a:t>
            </a:r>
          </a:p>
          <a:p>
            <a:r>
              <a:rPr lang="en-US" sz="1568" b="1" dirty="0">
                <a:latin typeface="Segoe UI"/>
              </a:rPr>
              <a:t>MODELS</a:t>
            </a:r>
          </a:p>
        </p:txBody>
      </p:sp>
      <p:grpSp>
        <p:nvGrpSpPr>
          <p:cNvPr id="49" name="Group 48"/>
          <p:cNvGrpSpPr/>
          <p:nvPr/>
        </p:nvGrpSpPr>
        <p:grpSpPr>
          <a:xfrm>
            <a:off x="2106645" y="4918722"/>
            <a:ext cx="8829784" cy="1120531"/>
            <a:chOff x="1973256" y="5222473"/>
            <a:chExt cx="8553106" cy="1120850"/>
          </a:xfrm>
        </p:grpSpPr>
        <p:sp>
          <p:nvSpPr>
            <p:cNvPr id="50" name="TextBox 49"/>
            <p:cNvSpPr txBox="1"/>
            <p:nvPr/>
          </p:nvSpPr>
          <p:spPr>
            <a:xfrm>
              <a:off x="1973256" y="5222473"/>
              <a:ext cx="8553106" cy="1120850"/>
            </a:xfrm>
            <a:prstGeom prst="rect">
              <a:avLst/>
            </a:prstGeom>
            <a:solidFill>
              <a:srgbClr val="D2D2D2"/>
            </a:solidFill>
          </p:spPr>
          <p:txBody>
            <a:bodyPr wrap="square" lIns="179285" tIns="143428" rIns="179285" bIns="143428" rtlCol="0" anchor="ctr">
              <a:noAutofit/>
            </a:bodyPr>
            <a:lstStyle/>
            <a:p>
              <a:pPr marL="0" marR="0" lvl="0" indent="0" algn="ctr" defTabSz="89621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68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059735" y="5715646"/>
              <a:ext cx="2648424" cy="538008"/>
            </a:xfrm>
            <a:prstGeom prst="rect">
              <a:avLst/>
            </a:prstGeom>
            <a:solidFill>
              <a:srgbClr val="000000">
                <a:alpha val="10196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kern="0">
                  <a:solidFill>
                    <a:sysClr val="windowText" lastClr="00000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defRPr>
              </a:lvl1pPr>
            </a:lstStyle>
            <a:p>
              <a:pPr marL="0" marR="0" lvl="0" indent="0" algn="ctr" defTabSz="91422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68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2804">
                        <a:srgbClr val="505050"/>
                      </a:gs>
                      <a:gs pos="26000">
                        <a:srgbClr val="505050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Segoe UI"/>
                  <a:cs typeface="Segoe UI Semilight" panose="020B0402040204020203" pitchFamily="34" charset="0"/>
                </a:rPr>
                <a:t>Compilers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925243" y="5715646"/>
              <a:ext cx="2648424" cy="538008"/>
            </a:xfrm>
            <a:prstGeom prst="rect">
              <a:avLst/>
            </a:prstGeom>
            <a:solidFill>
              <a:srgbClr val="000000">
                <a:alpha val="10196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b="1" kern="0">
                  <a:gradFill>
                    <a:gsLst>
                      <a:gs pos="2804">
                        <a:srgbClr val="505050"/>
                      </a:gs>
                      <a:gs pos="26000">
                        <a:srgbClr val="505050"/>
                      </a:gs>
                    </a:gsLst>
                    <a:lin ang="5400000" scaled="1"/>
                  </a:gradFill>
                  <a:cs typeface="Segoe UI Semilight" panose="020B0402040204020203" pitchFamily="34" charset="0"/>
                </a:defRPr>
              </a:lvl1pPr>
            </a:lstStyle>
            <a:p>
              <a:pPr marL="0" marR="0" lvl="0" indent="0" algn="ctr" defTabSz="91422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68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2804">
                        <a:srgbClr val="505050"/>
                      </a:gs>
                      <a:gs pos="26000">
                        <a:srgbClr val="505050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Segoe UI"/>
                  <a:cs typeface="Segoe UI Semilight" panose="020B0402040204020203" pitchFamily="34" charset="0"/>
                </a:rPr>
                <a:t>Languages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790751" y="5715646"/>
              <a:ext cx="2648424" cy="538008"/>
            </a:xfrm>
            <a:prstGeom prst="rect">
              <a:avLst/>
            </a:prstGeom>
            <a:solidFill>
              <a:srgbClr val="000000">
                <a:alpha val="10196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b="1" kern="0">
                  <a:gradFill>
                    <a:gsLst>
                      <a:gs pos="2804">
                        <a:srgbClr val="505050"/>
                      </a:gs>
                      <a:gs pos="26000">
                        <a:srgbClr val="505050"/>
                      </a:gs>
                    </a:gsLst>
                    <a:lin ang="5400000" scaled="1"/>
                  </a:gradFill>
                  <a:cs typeface="Segoe UI Semilight" panose="020B0402040204020203" pitchFamily="34" charset="0"/>
                </a:defRPr>
              </a:lvl1pPr>
            </a:lstStyle>
            <a:p>
              <a:pPr marL="0" marR="0" lvl="0" indent="0" algn="ctr" defTabSz="91422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68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2804">
                        <a:srgbClr val="505050"/>
                      </a:gs>
                      <a:gs pos="26000">
                        <a:srgbClr val="505050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Segoe UI"/>
                  <a:cs typeface="Segoe UI Semilight" panose="020B0402040204020203" pitchFamily="34" charset="0"/>
                </a:rPr>
                <a:t>Runtime components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973256" y="5222474"/>
              <a:ext cx="8553106" cy="403506"/>
            </a:xfrm>
            <a:prstGeom prst="rect">
              <a:avLst/>
            </a:prstGeom>
            <a:solidFill>
              <a:srgbClr val="000000">
                <a:alpha val="10196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b="1" kern="0">
                  <a:gradFill>
                    <a:gsLst>
                      <a:gs pos="2804">
                        <a:srgbClr val="505050"/>
                      </a:gs>
                      <a:gs pos="26000">
                        <a:srgbClr val="505050"/>
                      </a:gs>
                    </a:gsLst>
                    <a:lin ang="5400000" scaled="1"/>
                  </a:gradFill>
                  <a:cs typeface="Segoe UI Semilight" panose="020B0402040204020203" pitchFamily="34" charset="0"/>
                </a:defRPr>
              </a:lvl1pPr>
            </a:lstStyle>
            <a:p>
              <a:pPr marL="0" marR="0" lvl="0" indent="0" algn="ctr" defTabSz="91422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68" b="1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2804">
                        <a:srgbClr val="505050"/>
                      </a:gs>
                      <a:gs pos="26000">
                        <a:srgbClr val="505050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Segoe UI"/>
                  <a:cs typeface="Segoe UI Semilight" panose="020B0402040204020203" pitchFamily="34" charset="0"/>
                </a:rPr>
                <a:t>COMMON INFRASTRUCTURE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2195923" y="1714020"/>
            <a:ext cx="2734096" cy="1210174"/>
            <a:chOff x="1188720" y="2356171"/>
            <a:chExt cx="2788920" cy="1234440"/>
          </a:xfrm>
        </p:grpSpPr>
        <p:sp>
          <p:nvSpPr>
            <p:cNvPr id="59" name="TextBox 58"/>
            <p:cNvSpPr txBox="1"/>
            <p:nvPr/>
          </p:nvSpPr>
          <p:spPr>
            <a:xfrm>
              <a:off x="1897380" y="2996251"/>
              <a:ext cx="1371600" cy="594360"/>
            </a:xfrm>
            <a:prstGeom prst="rect">
              <a:avLst/>
            </a:prstGeom>
            <a:solidFill>
              <a:srgbClr val="000000">
                <a:alpha val="25000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kern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1"/>
                  </a:gradFill>
                  <a:latin typeface="Segoe UI Semibold" panose="020B0702040204020203" pitchFamily="34" charset="0"/>
                  <a:cs typeface="Segoe UI Semibold" panose="020B0702040204020203" pitchFamily="34" charset="0"/>
                </a:defRPr>
              </a:lvl1pPr>
            </a:lstStyle>
            <a:p>
              <a:r>
                <a:rPr lang="en-US" sz="1568" b="1" dirty="0">
                  <a:gradFill>
                    <a:gsLst>
                      <a:gs pos="125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"/>
                </a:rPr>
                <a:t>ASP.NET</a:t>
              </a: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1188720" y="2356171"/>
              <a:ext cx="2788920" cy="594360"/>
              <a:chOff x="1645920" y="2384389"/>
              <a:chExt cx="2417064" cy="594360"/>
            </a:xfrm>
          </p:grpSpPr>
          <p:sp>
            <p:nvSpPr>
              <p:cNvPr id="61" name="TextBox 60"/>
              <p:cNvSpPr txBox="1"/>
              <p:nvPr/>
            </p:nvSpPr>
            <p:spPr>
              <a:xfrm>
                <a:off x="2874264" y="2384389"/>
                <a:ext cx="1188720" cy="594360"/>
              </a:xfrm>
              <a:prstGeom prst="rect">
                <a:avLst/>
              </a:prstGeom>
              <a:solidFill>
                <a:srgbClr val="000000">
                  <a:alpha val="25000"/>
                </a:srgbClr>
              </a:solidFill>
            </p:spPr>
            <p:txBody>
              <a:bodyPr wrap="square" lIns="179285" tIns="143428" rIns="179285" bIns="143428" rtlCol="0" anchor="ctr">
                <a:noAutofit/>
              </a:bodyPr>
              <a:lstStyle>
                <a:defPPr>
                  <a:defRPr lang="en-US"/>
                </a:defPPr>
                <a:lvl1pPr algn="ctr" defTabSz="914224">
                  <a:lnSpc>
                    <a:spcPct val="90000"/>
                  </a:lnSpc>
                  <a:defRPr sz="1600" kern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1"/>
                    </a:gradFill>
                    <a:latin typeface="Segoe UI Semibold" panose="020B0702040204020203" pitchFamily="34" charset="0"/>
                    <a:cs typeface="Segoe UI Semibold" panose="020B0702040204020203" pitchFamily="34" charset="0"/>
                  </a:defRPr>
                </a:lvl1pPr>
              </a:lstStyle>
              <a:p>
                <a:r>
                  <a:rPr lang="en-US" sz="1568" b="1" dirty="0">
                    <a:gradFill>
                      <a:gsLst>
                        <a:gs pos="125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Segoe UI"/>
                  </a:rPr>
                  <a:t>Windows Forms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1645920" y="2384389"/>
                <a:ext cx="1188720" cy="594360"/>
              </a:xfrm>
              <a:prstGeom prst="rect">
                <a:avLst/>
              </a:prstGeom>
              <a:solidFill>
                <a:srgbClr val="000000">
                  <a:alpha val="25000"/>
                </a:srgbClr>
              </a:solidFill>
            </p:spPr>
            <p:txBody>
              <a:bodyPr wrap="square" lIns="179285" tIns="143428" rIns="179285" bIns="143428" rtlCol="0" anchor="ctr">
                <a:noAutofit/>
              </a:bodyPr>
              <a:lstStyle>
                <a:defPPr>
                  <a:defRPr lang="en-US"/>
                </a:defPPr>
                <a:lvl1pPr algn="ctr" defTabSz="914224">
                  <a:lnSpc>
                    <a:spcPct val="90000"/>
                  </a:lnSpc>
                  <a:defRPr sz="1600" kern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1"/>
                    </a:gradFill>
                    <a:latin typeface="Segoe UI Semibold" panose="020B0702040204020203" pitchFamily="34" charset="0"/>
                    <a:cs typeface="Segoe UI Semibold" panose="020B0702040204020203" pitchFamily="34" charset="0"/>
                  </a:defRPr>
                </a:lvl1pPr>
              </a:lstStyle>
              <a:p>
                <a:r>
                  <a:rPr lang="en-US" sz="1568" b="1" dirty="0">
                    <a:gradFill>
                      <a:gsLst>
                        <a:gs pos="125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Segoe UI"/>
                  </a:rPr>
                  <a:t>WPF</a:t>
                </a:r>
              </a:p>
            </p:txBody>
          </p:sp>
        </p:grpSp>
      </p:grpSp>
      <p:grpSp>
        <p:nvGrpSpPr>
          <p:cNvPr id="63" name="Group 62"/>
          <p:cNvGrpSpPr/>
          <p:nvPr/>
        </p:nvGrpSpPr>
        <p:grpSpPr>
          <a:xfrm>
            <a:off x="5154124" y="1714020"/>
            <a:ext cx="2734096" cy="1210174"/>
            <a:chOff x="4206240" y="2102819"/>
            <a:chExt cx="2788920" cy="1234440"/>
          </a:xfrm>
        </p:grpSpPr>
        <p:sp>
          <p:nvSpPr>
            <p:cNvPr id="64" name="TextBox 63"/>
            <p:cNvSpPr txBox="1"/>
            <p:nvPr/>
          </p:nvSpPr>
          <p:spPr>
            <a:xfrm>
              <a:off x="4206240" y="2102819"/>
              <a:ext cx="1737360" cy="594360"/>
            </a:xfrm>
            <a:prstGeom prst="rect">
              <a:avLst/>
            </a:prstGeom>
            <a:solidFill>
              <a:srgbClr val="000000">
                <a:alpha val="25000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kern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1"/>
                  </a:gradFill>
                  <a:latin typeface="Segoe UI Semibold" panose="020B0702040204020203" pitchFamily="34" charset="0"/>
                  <a:cs typeface="Segoe UI Semibold" panose="020B0702040204020203" pitchFamily="34" charset="0"/>
                </a:defRPr>
              </a:lvl1pPr>
            </a:lstStyle>
            <a:p>
              <a:r>
                <a:rPr lang="en-US" sz="1568" b="1" dirty="0">
                  <a:gradFill>
                    <a:gsLst>
                      <a:gs pos="125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"/>
                </a:rPr>
                <a:t>UWP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257800" y="2742899"/>
              <a:ext cx="1737360" cy="594360"/>
            </a:xfrm>
            <a:prstGeom prst="rect">
              <a:avLst/>
            </a:prstGeom>
            <a:solidFill>
              <a:srgbClr val="000000">
                <a:alpha val="25000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kern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1"/>
                  </a:gradFill>
                  <a:latin typeface="Segoe UI Semibold" panose="020B0702040204020203" pitchFamily="34" charset="0"/>
                  <a:cs typeface="Segoe UI Semibold" panose="020B0702040204020203" pitchFamily="34" charset="0"/>
                </a:defRPr>
              </a:lvl1pPr>
            </a:lstStyle>
            <a:p>
              <a:r>
                <a:rPr lang="en-US" sz="1568" b="1" dirty="0">
                  <a:gradFill>
                    <a:gsLst>
                      <a:gs pos="125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"/>
                </a:rPr>
                <a:t>ASP.NET Core</a:t>
              </a: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8112326" y="1714020"/>
            <a:ext cx="2734096" cy="1210174"/>
            <a:chOff x="7223760" y="2102819"/>
            <a:chExt cx="2788920" cy="1234440"/>
          </a:xfrm>
        </p:grpSpPr>
        <p:sp>
          <p:nvSpPr>
            <p:cNvPr id="67" name="TextBox 66"/>
            <p:cNvSpPr txBox="1"/>
            <p:nvPr/>
          </p:nvSpPr>
          <p:spPr>
            <a:xfrm>
              <a:off x="7223760" y="2102819"/>
              <a:ext cx="1371600" cy="594360"/>
            </a:xfrm>
            <a:prstGeom prst="rect">
              <a:avLst/>
            </a:prstGeom>
            <a:solidFill>
              <a:srgbClr val="000000">
                <a:alpha val="25000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kern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1"/>
                  </a:gradFill>
                  <a:latin typeface="Segoe UI Semibold" panose="020B0702040204020203" pitchFamily="34" charset="0"/>
                  <a:cs typeface="Segoe UI Semibold" panose="020B0702040204020203" pitchFamily="34" charset="0"/>
                </a:defRPr>
              </a:lvl1pPr>
            </a:lstStyle>
            <a:p>
              <a:r>
                <a:rPr lang="en-US" sz="1568" b="1" dirty="0">
                  <a:gradFill>
                    <a:gsLst>
                      <a:gs pos="125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"/>
                </a:rPr>
                <a:t>iOS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8641080" y="2422859"/>
              <a:ext cx="1371600" cy="594360"/>
            </a:xfrm>
            <a:prstGeom prst="rect">
              <a:avLst/>
            </a:prstGeom>
            <a:solidFill>
              <a:srgbClr val="000000">
                <a:alpha val="25000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kern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1"/>
                  </a:gradFill>
                  <a:latin typeface="Segoe UI Semibold" panose="020B0702040204020203" pitchFamily="34" charset="0"/>
                  <a:cs typeface="Segoe UI Semibold" panose="020B0702040204020203" pitchFamily="34" charset="0"/>
                </a:defRPr>
              </a:lvl1pPr>
            </a:lstStyle>
            <a:p>
              <a:r>
                <a:rPr lang="en-US" sz="1568" b="1" dirty="0">
                  <a:gradFill>
                    <a:gsLst>
                      <a:gs pos="125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"/>
                </a:rPr>
                <a:t>Android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223760" y="2742899"/>
              <a:ext cx="1371600" cy="594360"/>
            </a:xfrm>
            <a:prstGeom prst="rect">
              <a:avLst/>
            </a:prstGeom>
            <a:solidFill>
              <a:srgbClr val="000000">
                <a:alpha val="25000"/>
              </a:srgbClr>
            </a:solidFill>
          </p:spPr>
          <p:txBody>
            <a:bodyPr wrap="square" lIns="179285" tIns="143428" rIns="179285" bIns="143428" rtlCol="0" anchor="ctr">
              <a:noAutofit/>
            </a:bodyPr>
            <a:lstStyle>
              <a:defPPr>
                <a:defRPr lang="en-US"/>
              </a:defPPr>
              <a:lvl1pPr algn="ctr" defTabSz="914224">
                <a:lnSpc>
                  <a:spcPct val="90000"/>
                </a:lnSpc>
                <a:defRPr sz="1600" kern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1"/>
                  </a:gradFill>
                  <a:latin typeface="Segoe UI Semibold" panose="020B0702040204020203" pitchFamily="34" charset="0"/>
                  <a:cs typeface="Segoe UI Semibold" panose="020B0702040204020203" pitchFamily="34" charset="0"/>
                </a:defRPr>
              </a:lvl1pPr>
            </a:lstStyle>
            <a:p>
              <a:r>
                <a:rPr lang="en-US" sz="1568" b="1" dirty="0">
                  <a:gradFill>
                    <a:gsLst>
                      <a:gs pos="125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Segoe UI"/>
                </a:rPr>
                <a:t>OS X</a:t>
              </a:r>
            </a:p>
          </p:txBody>
        </p:sp>
      </p:grpSp>
      <p:sp>
        <p:nvSpPr>
          <p:cNvPr id="71" name="TextBox 70"/>
          <p:cNvSpPr txBox="1"/>
          <p:nvPr/>
        </p:nvSpPr>
        <p:spPr>
          <a:xfrm>
            <a:off x="2106280" y="3170692"/>
            <a:ext cx="8829784" cy="1523922"/>
          </a:xfrm>
          <a:prstGeom prst="rect">
            <a:avLst/>
          </a:prstGeom>
          <a:solidFill>
            <a:srgbClr val="D83B01"/>
          </a:solidFill>
        </p:spPr>
        <p:txBody>
          <a:bodyPr wrap="square" lIns="179285" tIns="143428" rIns="179285" bIns="143428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2000" kern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0" marR="0" lvl="0" indent="0" algn="ctr" defTabSz="91422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1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.NET STANDARD LIBRARY</a:t>
            </a:r>
          </a:p>
          <a:p>
            <a:pPr marL="0" marR="0" lvl="0" indent="0" algn="ctr" defTabSz="91422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65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One library to rule them all</a:t>
            </a:r>
          </a:p>
        </p:txBody>
      </p:sp>
    </p:spTree>
    <p:extLst>
      <p:ext uri="{BB962C8B-B14F-4D97-AF65-F5344CB8AC3E}">
        <p14:creationId xmlns:p14="http://schemas.microsoft.com/office/powerpoint/2010/main" val="2136332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/>
        </p:nvSpPr>
        <p:spPr>
          <a:xfrm>
            <a:off x="1585283" y="579377"/>
            <a:ext cx="9217395" cy="6092553"/>
          </a:xfrm>
          <a:prstGeom prst="rect">
            <a:avLst/>
          </a:prstGeom>
          <a:solidFill>
            <a:srgbClr val="CFCFCF"/>
          </a:solidFill>
          <a:ln w="38100">
            <a:solidFill>
              <a:srgbClr val="505050"/>
            </a:solidFill>
          </a:ln>
        </p:spPr>
        <p:txBody>
          <a:bodyPr wrap="square" lIns="179285" tIns="143428" rIns="179285" bIns="143428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2000" kern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0" marR="0" lvl="0" indent="0" algn="ctr" defTabSz="91422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65" b="0" i="0" u="none" strike="noStrike" kern="0" cap="none" spc="0" normalizeH="0" baseline="0" noProof="0" dirty="0">
              <a:ln>
                <a:noFill/>
              </a:ln>
              <a:gradFill>
                <a:gsLst>
                  <a:gs pos="125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cs typeface="Segoe UI Semibold" panose="020B0702040204020203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945213" y="5843438"/>
            <a:ext cx="8515943" cy="537849"/>
            <a:chOff x="1646287" y="5572667"/>
            <a:chExt cx="8686705" cy="548634"/>
          </a:xfrm>
        </p:grpSpPr>
        <p:sp>
          <p:nvSpPr>
            <p:cNvPr id="3" name="Rectangle 2"/>
            <p:cNvSpPr/>
            <p:nvPr/>
          </p:nvSpPr>
          <p:spPr bwMode="auto">
            <a:xfrm>
              <a:off x="1646287" y="5572667"/>
              <a:ext cx="8686705" cy="548634"/>
            </a:xfrm>
            <a:prstGeom prst="rect">
              <a:avLst/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02" fontAlgn="base">
                <a:spcBef>
                  <a:spcPct val="0"/>
                </a:spcBef>
                <a:spcAft>
                  <a:spcPct val="0"/>
                </a:spcAft>
              </a:pPr>
              <a:endParaRPr lang="en-US" sz="1961" kern="0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4480896" y="5574602"/>
              <a:ext cx="5577780" cy="544765"/>
            </a:xfrm>
            <a:prstGeom prst="rect">
              <a:avLst/>
            </a:prstGeom>
            <a:noFill/>
          </p:spPr>
          <p:txBody>
            <a:bodyPr wrap="square" lIns="179285" tIns="143428" rIns="179285" bIns="143428" rtlCol="0">
              <a:spAutoFit/>
            </a:bodyPr>
            <a:lstStyle/>
            <a:p>
              <a:pPr defTabSz="896386">
                <a:lnSpc>
                  <a:spcPct val="90000"/>
                </a:lnSpc>
                <a:spcAft>
                  <a:spcPts val="588"/>
                </a:spcAft>
              </a:pPr>
              <a:r>
                <a:rPr lang="fr-FR" sz="1765" kern="0" dirty="0">
                  <a:solidFill>
                    <a:schemeClr val="bg1"/>
                  </a:solidFill>
                </a:rPr>
                <a:t>Primitives • Collections • </a:t>
              </a:r>
              <a:r>
                <a:rPr lang="fr-FR" sz="1765" kern="0" dirty="0" err="1">
                  <a:solidFill>
                    <a:schemeClr val="bg1"/>
                  </a:solidFill>
                </a:rPr>
                <a:t>Reflection</a:t>
              </a:r>
              <a:r>
                <a:rPr lang="fr-FR" sz="1765" kern="0" dirty="0">
                  <a:solidFill>
                    <a:schemeClr val="bg1"/>
                  </a:solidFill>
                </a:rPr>
                <a:t> • </a:t>
              </a:r>
              <a:r>
                <a:rPr lang="fr-FR" sz="1765" kern="0" dirty="0" err="1">
                  <a:solidFill>
                    <a:schemeClr val="bg1"/>
                  </a:solidFill>
                </a:rPr>
                <a:t>Interop</a:t>
              </a:r>
              <a:r>
                <a:rPr lang="fr-FR" sz="1765" kern="0" dirty="0">
                  <a:solidFill>
                    <a:schemeClr val="bg1"/>
                  </a:solidFill>
                </a:rPr>
                <a:t> • </a:t>
              </a:r>
              <a:r>
                <a:rPr lang="fr-FR" sz="1765" kern="0" dirty="0" err="1">
                  <a:solidFill>
                    <a:schemeClr val="bg1"/>
                  </a:solidFill>
                </a:rPr>
                <a:t>Linq</a:t>
              </a:r>
              <a:endParaRPr lang="en-US" sz="1765" kern="0" dirty="0" err="1">
                <a:solidFill>
                  <a:schemeClr val="bg1"/>
                </a:solidFill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2560677" y="5676168"/>
              <a:ext cx="777778" cy="3416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048">
                <a:lnSpc>
                  <a:spcPct val="90000"/>
                </a:lnSpc>
                <a:defRPr/>
              </a:pPr>
              <a:r>
                <a:rPr lang="en-US" sz="1765" b="1" kern="0" dirty="0">
                  <a:solidFill>
                    <a:srgbClr val="FFFFFF"/>
                  </a:solidFill>
                  <a:cs typeface="Segoe UI Semibold" panose="020B0702040204020203" pitchFamily="34" charset="0"/>
                </a:rPr>
                <a:t>CORE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1986028" y="4952454"/>
            <a:ext cx="8515943" cy="537849"/>
            <a:chOff x="1646287" y="4881583"/>
            <a:chExt cx="8686705" cy="548634"/>
          </a:xfrm>
        </p:grpSpPr>
        <p:sp>
          <p:nvSpPr>
            <p:cNvPr id="7" name="Rectangle 6"/>
            <p:cNvSpPr/>
            <p:nvPr/>
          </p:nvSpPr>
          <p:spPr bwMode="auto">
            <a:xfrm>
              <a:off x="1646287" y="4881583"/>
              <a:ext cx="8686705" cy="548634"/>
            </a:xfrm>
            <a:prstGeom prst="rect">
              <a:avLst/>
            </a:prstGeom>
            <a:solidFill>
              <a:srgbClr val="0078D7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02" fontAlgn="base">
                <a:spcBef>
                  <a:spcPct val="0"/>
                </a:spcBef>
                <a:spcAft>
                  <a:spcPct val="0"/>
                </a:spcAft>
              </a:pPr>
              <a:endParaRPr lang="en-US" sz="1961" kern="0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480896" y="4883518"/>
              <a:ext cx="5577780" cy="544765"/>
            </a:xfrm>
            <a:prstGeom prst="rect">
              <a:avLst/>
            </a:prstGeom>
            <a:noFill/>
          </p:spPr>
          <p:txBody>
            <a:bodyPr wrap="square" lIns="179285" tIns="143428" rIns="179285" bIns="143428" rtlCol="0">
              <a:spAutoFit/>
            </a:bodyPr>
            <a:lstStyle/>
            <a:p>
              <a:pPr defTabSz="896386">
                <a:lnSpc>
                  <a:spcPct val="90000"/>
                </a:lnSpc>
                <a:spcAft>
                  <a:spcPts val="588"/>
                </a:spcAft>
              </a:pPr>
              <a:r>
                <a:rPr lang="fr-FR" sz="1765" kern="0" dirty="0">
                  <a:solidFill>
                    <a:schemeClr val="bg1"/>
                  </a:solidFill>
                </a:rPr>
                <a:t>Threads • Thread Pool • </a:t>
              </a:r>
              <a:r>
                <a:rPr lang="fr-FR" sz="1765" kern="0" dirty="0" err="1">
                  <a:solidFill>
                    <a:schemeClr val="bg1"/>
                  </a:solidFill>
                </a:rPr>
                <a:t>Tasks</a:t>
              </a:r>
              <a:endParaRPr lang="en-US" sz="1765" kern="0" dirty="0" err="1">
                <a:solidFill>
                  <a:schemeClr val="bg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2188782" y="4985084"/>
              <a:ext cx="1521571" cy="3416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048">
                <a:lnSpc>
                  <a:spcPct val="90000"/>
                </a:lnSpc>
                <a:defRPr/>
              </a:pPr>
              <a:r>
                <a:rPr lang="en-US" sz="1765" b="1" kern="0" dirty="0">
                  <a:solidFill>
                    <a:srgbClr val="FFFFFF"/>
                  </a:solidFill>
                  <a:cs typeface="Segoe UI Semibold" panose="020B0702040204020203" pitchFamily="34" charset="0"/>
                </a:rPr>
                <a:t>THREADING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1986028" y="4061468"/>
            <a:ext cx="8515943" cy="537849"/>
            <a:chOff x="1646287" y="4109887"/>
            <a:chExt cx="8686705" cy="548634"/>
          </a:xfrm>
          <a:solidFill>
            <a:srgbClr val="FF8C00"/>
          </a:solidFill>
        </p:grpSpPr>
        <p:sp>
          <p:nvSpPr>
            <p:cNvPr id="11" name="Rectangle 10"/>
            <p:cNvSpPr/>
            <p:nvPr/>
          </p:nvSpPr>
          <p:spPr bwMode="auto">
            <a:xfrm>
              <a:off x="1646287" y="4109887"/>
              <a:ext cx="8686705" cy="548634"/>
            </a:xfrm>
            <a:prstGeom prst="rect">
              <a:avLst/>
            </a:prstGeom>
            <a:grpFill/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02" fontAlgn="base">
                <a:spcBef>
                  <a:spcPct val="0"/>
                </a:spcBef>
                <a:spcAft>
                  <a:spcPct val="0"/>
                </a:spcAft>
              </a:pPr>
              <a:endParaRPr lang="en-US" sz="1961" kern="0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480896" y="4111822"/>
              <a:ext cx="5577780" cy="544765"/>
            </a:xfrm>
            <a:prstGeom prst="rect">
              <a:avLst/>
            </a:prstGeom>
            <a:grpFill/>
          </p:spPr>
          <p:txBody>
            <a:bodyPr wrap="square" lIns="179285" tIns="143428" rIns="179285" bIns="143428" rtlCol="0">
              <a:spAutoFit/>
            </a:bodyPr>
            <a:lstStyle/>
            <a:p>
              <a:pPr defTabSz="896386">
                <a:lnSpc>
                  <a:spcPct val="90000"/>
                </a:lnSpc>
                <a:spcAft>
                  <a:spcPts val="588"/>
                </a:spcAft>
              </a:pPr>
              <a:r>
                <a:rPr lang="fr-FR" sz="1765" kern="0" dirty="0">
                  <a:solidFill>
                    <a:schemeClr val="bg1"/>
                  </a:solidFill>
                </a:rPr>
                <a:t>Files • Compression • MMF</a:t>
              </a:r>
              <a:endParaRPr lang="en-US" sz="1765" kern="0" dirty="0" err="1">
                <a:solidFill>
                  <a:schemeClr val="bg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733000" y="4213388"/>
              <a:ext cx="433132" cy="34163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pPr algn="ctr" defTabSz="914048">
                <a:lnSpc>
                  <a:spcPct val="90000"/>
                </a:lnSpc>
                <a:defRPr/>
              </a:pPr>
              <a:r>
                <a:rPr lang="en-US" sz="1765" b="1" kern="0" dirty="0">
                  <a:solidFill>
                    <a:srgbClr val="FFFFFF"/>
                  </a:solidFill>
                  <a:cs typeface="Segoe UI Semibold" panose="020B0702040204020203" pitchFamily="34" charset="0"/>
                </a:rPr>
                <a:t>IO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1986028" y="3170482"/>
            <a:ext cx="8515943" cy="537849"/>
            <a:chOff x="1646287" y="3278906"/>
            <a:chExt cx="8686705" cy="548634"/>
          </a:xfrm>
          <a:solidFill>
            <a:srgbClr val="00BCF2"/>
          </a:solidFill>
        </p:grpSpPr>
        <p:sp>
          <p:nvSpPr>
            <p:cNvPr id="15" name="Rectangle 14"/>
            <p:cNvSpPr/>
            <p:nvPr/>
          </p:nvSpPr>
          <p:spPr bwMode="auto">
            <a:xfrm>
              <a:off x="1646287" y="3278906"/>
              <a:ext cx="8686705" cy="548634"/>
            </a:xfrm>
            <a:prstGeom prst="rect">
              <a:avLst/>
            </a:prstGeom>
            <a:grpFill/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02" fontAlgn="base">
                <a:spcBef>
                  <a:spcPct val="0"/>
                </a:spcBef>
                <a:spcAft>
                  <a:spcPct val="0"/>
                </a:spcAft>
              </a:pPr>
              <a:endParaRPr lang="en-US" sz="1961" kern="0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480896" y="3280841"/>
              <a:ext cx="5577780" cy="544765"/>
            </a:xfrm>
            <a:prstGeom prst="rect">
              <a:avLst/>
            </a:prstGeom>
            <a:grpFill/>
          </p:spPr>
          <p:txBody>
            <a:bodyPr wrap="square" lIns="179285" tIns="143428" rIns="179285" bIns="143428" rtlCol="0">
              <a:spAutoFit/>
            </a:bodyPr>
            <a:lstStyle/>
            <a:p>
              <a:pPr defTabSz="896386">
                <a:lnSpc>
                  <a:spcPct val="90000"/>
                </a:lnSpc>
                <a:spcAft>
                  <a:spcPts val="588"/>
                </a:spcAft>
              </a:pPr>
              <a:r>
                <a:rPr lang="fr-FR" sz="1765" kern="0" dirty="0">
                  <a:solidFill>
                    <a:schemeClr val="bg1"/>
                  </a:solidFill>
                </a:rPr>
                <a:t>Sockets • Http • Mail • </a:t>
              </a:r>
              <a:r>
                <a:rPr lang="fr-FR" sz="1765" kern="0" dirty="0" err="1">
                  <a:solidFill>
                    <a:schemeClr val="bg1"/>
                  </a:solidFill>
                </a:rPr>
                <a:t>WebSockets</a:t>
              </a:r>
              <a:endParaRPr lang="en-US" sz="1765" kern="0" dirty="0" err="1">
                <a:solidFill>
                  <a:schemeClr val="bg1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073366" y="3382407"/>
              <a:ext cx="1752403" cy="34163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pPr algn="ctr" defTabSz="914048">
                <a:lnSpc>
                  <a:spcPct val="90000"/>
                </a:lnSpc>
                <a:defRPr/>
              </a:pPr>
              <a:r>
                <a:rPr lang="en-US" sz="1765" b="1" kern="0" dirty="0">
                  <a:solidFill>
                    <a:srgbClr val="FFFFFF"/>
                  </a:solidFill>
                  <a:cs typeface="Segoe UI Semibold" panose="020B0702040204020203" pitchFamily="34" charset="0"/>
                </a:rPr>
                <a:t>NETWORKING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986028" y="2279496"/>
            <a:ext cx="8515943" cy="537849"/>
            <a:chOff x="1646287" y="2550596"/>
            <a:chExt cx="8686705" cy="548634"/>
          </a:xfrm>
          <a:solidFill>
            <a:srgbClr val="505050"/>
          </a:solidFill>
        </p:grpSpPr>
        <p:sp>
          <p:nvSpPr>
            <p:cNvPr id="19" name="Rectangle 18"/>
            <p:cNvSpPr/>
            <p:nvPr/>
          </p:nvSpPr>
          <p:spPr bwMode="auto">
            <a:xfrm>
              <a:off x="1646287" y="2550596"/>
              <a:ext cx="8686705" cy="548634"/>
            </a:xfrm>
            <a:prstGeom prst="rect">
              <a:avLst/>
            </a:prstGeom>
            <a:grpFill/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02" fontAlgn="base">
                <a:spcBef>
                  <a:spcPct val="0"/>
                </a:spcBef>
                <a:spcAft>
                  <a:spcPct val="0"/>
                </a:spcAft>
              </a:pPr>
              <a:endParaRPr lang="en-US" sz="1961" kern="0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480896" y="2552531"/>
              <a:ext cx="5577780" cy="544765"/>
            </a:xfrm>
            <a:prstGeom prst="rect">
              <a:avLst/>
            </a:prstGeom>
            <a:grpFill/>
          </p:spPr>
          <p:txBody>
            <a:bodyPr wrap="square" lIns="179285" tIns="143428" rIns="179285" bIns="143428" rtlCol="0">
              <a:spAutoFit/>
            </a:bodyPr>
            <a:lstStyle/>
            <a:p>
              <a:pPr defTabSz="896386">
                <a:lnSpc>
                  <a:spcPct val="90000"/>
                </a:lnSpc>
                <a:spcAft>
                  <a:spcPts val="588"/>
                </a:spcAft>
              </a:pPr>
              <a:r>
                <a:rPr lang="fr-FR" sz="1765" kern="0" dirty="0" err="1">
                  <a:solidFill>
                    <a:schemeClr val="bg1"/>
                  </a:solidFill>
                </a:rPr>
                <a:t>BinaryFormatter</a:t>
              </a:r>
              <a:r>
                <a:rPr lang="fr-FR" sz="1765" kern="0" dirty="0">
                  <a:solidFill>
                    <a:schemeClr val="bg1"/>
                  </a:solidFill>
                </a:rPr>
                <a:t> • Data </a:t>
              </a:r>
              <a:r>
                <a:rPr lang="fr-FR" sz="1765" kern="0" dirty="0" err="1">
                  <a:solidFill>
                    <a:schemeClr val="bg1"/>
                  </a:solidFill>
                </a:rPr>
                <a:t>Contract</a:t>
              </a:r>
              <a:r>
                <a:rPr lang="fr-FR" sz="1765" kern="0" dirty="0">
                  <a:solidFill>
                    <a:schemeClr val="bg1"/>
                  </a:solidFill>
                </a:rPr>
                <a:t> • XML</a:t>
              </a:r>
              <a:endParaRPr lang="en-US" sz="1765" kern="0" dirty="0" err="1">
                <a:solidFill>
                  <a:schemeClr val="bg1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005923" y="2654097"/>
              <a:ext cx="1887286" cy="34351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pPr algn="ctr" defTabSz="914048">
                <a:lnSpc>
                  <a:spcPct val="90000"/>
                </a:lnSpc>
                <a:defRPr/>
              </a:pPr>
              <a:r>
                <a:rPr lang="en-US" sz="1765" b="1" kern="0" dirty="0">
                  <a:solidFill>
                    <a:srgbClr val="FFFFFF"/>
                  </a:solidFill>
                  <a:cs typeface="Segoe UI Semibold" panose="020B0702040204020203" pitchFamily="34" charset="0"/>
                </a:rPr>
                <a:t>SERIALIZATION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986028" y="1388510"/>
            <a:ext cx="8515943" cy="537849"/>
            <a:chOff x="1646287" y="1759921"/>
            <a:chExt cx="8686705" cy="548634"/>
          </a:xfrm>
          <a:solidFill>
            <a:srgbClr val="002050"/>
          </a:solidFill>
        </p:grpSpPr>
        <p:sp>
          <p:nvSpPr>
            <p:cNvPr id="23" name="Rectangle 22"/>
            <p:cNvSpPr/>
            <p:nvPr/>
          </p:nvSpPr>
          <p:spPr bwMode="auto">
            <a:xfrm>
              <a:off x="1646287" y="1759921"/>
              <a:ext cx="8686705" cy="548634"/>
            </a:xfrm>
            <a:prstGeom prst="rect">
              <a:avLst/>
            </a:prstGeom>
            <a:grpFill/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102" fontAlgn="base">
                <a:spcBef>
                  <a:spcPct val="0"/>
                </a:spcBef>
                <a:spcAft>
                  <a:spcPct val="0"/>
                </a:spcAft>
              </a:pPr>
              <a:endParaRPr lang="en-US" sz="1961" kern="0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480896" y="1761856"/>
              <a:ext cx="5577780" cy="544793"/>
            </a:xfrm>
            <a:prstGeom prst="rect">
              <a:avLst/>
            </a:prstGeom>
            <a:grpFill/>
          </p:spPr>
          <p:txBody>
            <a:bodyPr wrap="square" lIns="179285" tIns="143428" rIns="179285" bIns="143428" rtlCol="0">
              <a:spAutoFit/>
            </a:bodyPr>
            <a:lstStyle/>
            <a:p>
              <a:pPr defTabSz="896386">
                <a:lnSpc>
                  <a:spcPct val="90000"/>
                </a:lnSpc>
                <a:spcAft>
                  <a:spcPts val="588"/>
                </a:spcAft>
              </a:pPr>
              <a:r>
                <a:rPr lang="fr-FR" sz="1765" kern="0" dirty="0" err="1">
                  <a:solidFill>
                    <a:schemeClr val="bg1"/>
                  </a:solidFill>
                </a:rPr>
                <a:t>XLinq</a:t>
              </a:r>
              <a:r>
                <a:rPr lang="fr-FR" sz="1765" kern="0" dirty="0">
                  <a:solidFill>
                    <a:schemeClr val="bg1"/>
                  </a:solidFill>
                </a:rPr>
                <a:t> • XML Document  • </a:t>
              </a:r>
              <a:r>
                <a:rPr lang="fr-FR" sz="1765" kern="0" dirty="0" err="1">
                  <a:solidFill>
                    <a:schemeClr val="bg1"/>
                  </a:solidFill>
                </a:rPr>
                <a:t>XPath</a:t>
              </a:r>
              <a:r>
                <a:rPr lang="fr-FR" sz="1765" kern="0" dirty="0">
                  <a:solidFill>
                    <a:schemeClr val="bg1"/>
                  </a:solidFill>
                </a:rPr>
                <a:t> • XSD • XSL</a:t>
              </a:r>
              <a:endParaRPr lang="en-US" sz="1765" kern="0" dirty="0" err="1">
                <a:solidFill>
                  <a:schemeClr val="bg1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611973" y="1863422"/>
              <a:ext cx="675185" cy="341632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pPr algn="ctr" defTabSz="914048">
                <a:lnSpc>
                  <a:spcPct val="90000"/>
                </a:lnSpc>
                <a:defRPr/>
              </a:pPr>
              <a:r>
                <a:rPr lang="en-US" sz="1765" b="1" kern="0" dirty="0">
                  <a:solidFill>
                    <a:srgbClr val="FFFFFF"/>
                  </a:solidFill>
                  <a:cs typeface="Segoe UI Semibold" panose="020B0702040204020203" pitchFamily="34" charset="0"/>
                </a:rPr>
                <a:t>XML</a:t>
              </a:r>
            </a:p>
          </p:txBody>
        </p:sp>
      </p:grpSp>
      <p:sp>
        <p:nvSpPr>
          <p:cNvPr id="27" name="Rectangle 26"/>
          <p:cNvSpPr/>
          <p:nvPr/>
        </p:nvSpPr>
        <p:spPr>
          <a:xfrm>
            <a:off x="4892787" y="778341"/>
            <a:ext cx="2406428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224">
              <a:lnSpc>
                <a:spcPct val="90000"/>
              </a:lnSpc>
              <a:defRPr/>
            </a:pPr>
            <a:r>
              <a:rPr lang="en-US" b="1" kern="0" dirty="0">
                <a:solidFill>
                  <a:sysClr val="windowText" lastClr="000000"/>
                </a:solidFill>
                <a:latin typeface="Segoe UI"/>
                <a:cs typeface="Segoe UI Semibold" panose="020B0702040204020203" pitchFamily="34" charset="0"/>
              </a:rPr>
              <a:t>.NET STANDARD 2.0</a:t>
            </a:r>
          </a:p>
        </p:txBody>
      </p:sp>
    </p:spTree>
    <p:extLst>
      <p:ext uri="{BB962C8B-B14F-4D97-AF65-F5344CB8AC3E}">
        <p14:creationId xmlns:p14="http://schemas.microsoft.com/office/powerpoint/2010/main" val="3455506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5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513354" y="3498112"/>
            <a:ext cx="2256095" cy="1446955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" name="Rectangle 4"/>
          <p:cNvSpPr/>
          <p:nvPr/>
        </p:nvSpPr>
        <p:spPr>
          <a:xfrm>
            <a:off x="3268372" y="3068506"/>
            <a:ext cx="2913381" cy="621565"/>
          </a:xfrm>
          <a:prstGeom prst="rect">
            <a:avLst/>
          </a:prstGeom>
          <a:solidFill>
            <a:srgbClr val="0078D7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My Standard Library 1.x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203" y="4310190"/>
            <a:ext cx="2913381" cy="634877"/>
          </a:xfrm>
          <a:prstGeom prst="rect">
            <a:avLst/>
          </a:prstGeom>
          <a:solidFill>
            <a:srgbClr val="107C10"/>
          </a:solidFill>
          <a:ln>
            <a:solidFill>
              <a:srgbClr val="0D630D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.NET Standard Library</a:t>
            </a:r>
            <a:endParaRPr lang="en-US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" name="Straight Arrow Connector 22"/>
          <p:cNvCxnSpPr>
            <a:cxnSpLocks/>
            <a:stCxn id="5" idx="2"/>
            <a:endCxn id="6" idx="0"/>
          </p:cNvCxnSpPr>
          <p:nvPr/>
        </p:nvCxnSpPr>
        <p:spPr>
          <a:xfrm rot="5400000">
            <a:off x="2935920" y="2521046"/>
            <a:ext cx="620119" cy="2958169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268373" y="4310190"/>
            <a:ext cx="2913382" cy="634877"/>
          </a:xfrm>
          <a:prstGeom prst="rect">
            <a:avLst/>
          </a:prstGeom>
          <a:solidFill>
            <a:srgbClr val="107C10"/>
          </a:solidFill>
          <a:ln>
            <a:solidFill>
              <a:srgbClr val="0D630D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Portable Class Library</a:t>
            </a:r>
            <a:endParaRPr lang="en-US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" name="Straight Arrow Connector 10"/>
          <p:cNvCxnSpPr>
            <a:cxnSpLocks/>
            <a:stCxn id="5" idx="2"/>
            <a:endCxn id="9" idx="0"/>
          </p:cNvCxnSpPr>
          <p:nvPr/>
        </p:nvCxnSpPr>
        <p:spPr>
          <a:xfrm>
            <a:off x="4725063" y="3690071"/>
            <a:ext cx="1" cy="62011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0204" y="1807576"/>
            <a:ext cx="2913381" cy="627498"/>
          </a:xfrm>
          <a:prstGeom prst="rect">
            <a:avLst/>
          </a:prstGeom>
          <a:solidFill>
            <a:srgbClr val="E6E6E6"/>
          </a:solidFill>
        </p:spPr>
        <p:txBody>
          <a:bodyPr wrap="square" lIns="179285" tIns="143428" rIns="179285" bIns="143428" rtlCol="0" anchor="ctr">
            <a:noAutofit/>
          </a:bodyPr>
          <a:lstStyle/>
          <a:p>
            <a:pPr marL="0" marR="0" lvl="0" indent="0" algn="ctr" defTabSz="89621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1" b="1" i="0" u="none" strike="noStrike" kern="0" cap="none" spc="0" normalizeH="0" baseline="0" noProof="0" dirty="0">
                <a:ln>
                  <a:noFill/>
                </a:ln>
                <a:solidFill>
                  <a:srgbClr val="A9A9A9"/>
                </a:soli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.NET 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8373" y="1807576"/>
            <a:ext cx="2913381" cy="627498"/>
          </a:xfrm>
          <a:prstGeom prst="rect">
            <a:avLst/>
          </a:prstGeom>
          <a:solidFill>
            <a:srgbClr val="E6E6E6"/>
          </a:solidFill>
        </p:spPr>
        <p:txBody>
          <a:bodyPr wrap="square" lIns="179285" tIns="143428" rIns="179285" bIns="143428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2000" kern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0" marR="0" lvl="0" indent="0" defTabSz="91422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1" b="1" i="0" u="none" strike="noStrike" kern="0" cap="none" spc="0" normalizeH="0" baseline="0" noProof="0" dirty="0">
                <a:ln>
                  <a:noFill/>
                </a:ln>
                <a:solidFill>
                  <a:srgbClr val="A9A9A9"/>
                </a:soli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.NET 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6543" y="1807577"/>
            <a:ext cx="2913381" cy="627498"/>
          </a:xfrm>
          <a:prstGeom prst="rect">
            <a:avLst/>
          </a:prstGeom>
          <a:solidFill>
            <a:srgbClr val="E6E6E6"/>
          </a:solidFill>
        </p:spPr>
        <p:txBody>
          <a:bodyPr wrap="square" lIns="179285" tIns="143428" rIns="179285" bIns="143428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2000" kern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0" marR="0" lvl="0" indent="0" defTabSz="91422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1" b="1" i="0" u="none" strike="noStrike" kern="0" cap="none" spc="0" normalizeH="0" baseline="0" noProof="0" dirty="0">
                <a:ln>
                  <a:noFill/>
                </a:ln>
                <a:solidFill>
                  <a:srgbClr val="A9A9A9"/>
                </a:soli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XAMARIN</a:t>
            </a:r>
          </a:p>
        </p:txBody>
      </p:sp>
      <p:cxnSp>
        <p:nvCxnSpPr>
          <p:cNvPr id="19" name="Straight Arrow Connector 18"/>
          <p:cNvCxnSpPr>
            <a:cxnSpLocks/>
            <a:stCxn id="17" idx="2"/>
            <a:endCxn id="5" idx="0"/>
          </p:cNvCxnSpPr>
          <p:nvPr/>
        </p:nvCxnSpPr>
        <p:spPr>
          <a:xfrm flipH="1">
            <a:off x="4725063" y="2435074"/>
            <a:ext cx="1" cy="633432"/>
          </a:xfrm>
          <a:prstGeom prst="straightConnector1">
            <a:avLst/>
          </a:prstGeom>
          <a:ln w="38100">
            <a:solidFill>
              <a:srgbClr val="B9D4ED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/>
            <a:stCxn id="16" idx="2"/>
            <a:endCxn id="5" idx="0"/>
          </p:cNvCxnSpPr>
          <p:nvPr/>
        </p:nvCxnSpPr>
        <p:spPr>
          <a:xfrm rot="16200000" flipH="1">
            <a:off x="2929263" y="1272706"/>
            <a:ext cx="633432" cy="2958168"/>
          </a:xfrm>
          <a:prstGeom prst="bentConnector3">
            <a:avLst>
              <a:gd name="adj1" fmla="val 50000"/>
            </a:avLst>
          </a:prstGeom>
          <a:ln w="38100">
            <a:solidFill>
              <a:srgbClr val="B9D4ED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2"/>
          <p:cNvCxnSpPr>
            <a:cxnSpLocks/>
            <a:stCxn id="18" idx="2"/>
            <a:endCxn id="5" idx="0"/>
          </p:cNvCxnSpPr>
          <p:nvPr/>
        </p:nvCxnSpPr>
        <p:spPr>
          <a:xfrm rot="5400000">
            <a:off x="5887434" y="1272705"/>
            <a:ext cx="633431" cy="2958171"/>
          </a:xfrm>
          <a:prstGeom prst="bentConnector3">
            <a:avLst>
              <a:gd name="adj1" fmla="val 50000"/>
            </a:avLst>
          </a:prstGeom>
          <a:ln w="38100">
            <a:solidFill>
              <a:srgbClr val="B9D4ED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513354" y="2845137"/>
            <a:ext cx="2256095" cy="2099930"/>
          </a:xfrm>
          <a:prstGeom prst="rect">
            <a:avLst/>
          </a:prstGeom>
          <a:solidFill>
            <a:srgbClr val="CFCFCF"/>
          </a:solidFill>
          <a:ln w="38100">
            <a:solidFill>
              <a:srgbClr val="50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5" name="Rectangle 14"/>
          <p:cNvSpPr/>
          <p:nvPr/>
        </p:nvSpPr>
        <p:spPr>
          <a:xfrm>
            <a:off x="9627653" y="4440985"/>
            <a:ext cx="1937658" cy="359228"/>
          </a:xfrm>
          <a:prstGeom prst="rect">
            <a:avLst/>
          </a:prstGeom>
          <a:solidFill>
            <a:srgbClr val="107C10"/>
          </a:solidFill>
          <a:ln>
            <a:solidFill>
              <a:srgbClr val="0D630D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Via Portability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7652" y="2998296"/>
            <a:ext cx="801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Legend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7653" y="3934622"/>
            <a:ext cx="1937658" cy="359228"/>
          </a:xfrm>
          <a:prstGeom prst="rect">
            <a:avLst/>
          </a:prstGeom>
          <a:solidFill>
            <a:srgbClr val="E6E6E6"/>
          </a:solidFill>
        </p:spPr>
        <p:txBody>
          <a:bodyPr wrap="square" lIns="179285" tIns="143428" rIns="179285" bIns="143428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2000" kern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0" marR="0" lvl="0" indent="0" algn="l" defTabSz="91422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A9A9A9"/>
                </a:soli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Application Type</a:t>
            </a:r>
          </a:p>
        </p:txBody>
      </p:sp>
      <p:cxnSp>
        <p:nvCxnSpPr>
          <p:cNvPr id="24" name="Straight Arrow Connector 23"/>
          <p:cNvCxnSpPr>
            <a:cxnSpLocks/>
          </p:cNvCxnSpPr>
          <p:nvPr/>
        </p:nvCxnSpPr>
        <p:spPr>
          <a:xfrm>
            <a:off x="9627652" y="3656875"/>
            <a:ext cx="470269" cy="5766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27512" y="3528254"/>
            <a:ext cx="14558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Is able to reference</a:t>
            </a:r>
          </a:p>
        </p:txBody>
      </p:sp>
    </p:spTree>
    <p:extLst>
      <p:ext uri="{BB962C8B-B14F-4D97-AF65-F5344CB8AC3E}">
        <p14:creationId xmlns:p14="http://schemas.microsoft.com/office/powerpoint/2010/main" val="2161464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513354" y="2355112"/>
            <a:ext cx="2256095" cy="2589955"/>
          </a:xfrm>
          <a:prstGeom prst="rect">
            <a:avLst/>
          </a:prstGeom>
          <a:solidFill>
            <a:srgbClr val="CFCFCF"/>
          </a:solidFill>
          <a:ln w="38100">
            <a:solidFill>
              <a:srgbClr val="50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" name="Rectangle 4"/>
          <p:cNvSpPr/>
          <p:nvPr/>
        </p:nvSpPr>
        <p:spPr>
          <a:xfrm>
            <a:off x="3268372" y="3068506"/>
            <a:ext cx="2913381" cy="621565"/>
          </a:xfrm>
          <a:prstGeom prst="rect">
            <a:avLst/>
          </a:prstGeom>
          <a:solidFill>
            <a:srgbClr val="0078D7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My Standard Library 2.x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203" y="4310190"/>
            <a:ext cx="2913381" cy="634877"/>
          </a:xfrm>
          <a:prstGeom prst="rect">
            <a:avLst/>
          </a:prstGeom>
          <a:solidFill>
            <a:srgbClr val="107C10"/>
          </a:solidFill>
          <a:ln>
            <a:solidFill>
              <a:srgbClr val="0D630D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.NET Standard Library</a:t>
            </a:r>
            <a:endParaRPr lang="en-US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" name="Straight Arrow Connector 22"/>
          <p:cNvCxnSpPr>
            <a:cxnSpLocks/>
            <a:stCxn id="5" idx="2"/>
            <a:endCxn id="6" idx="0"/>
          </p:cNvCxnSpPr>
          <p:nvPr/>
        </p:nvCxnSpPr>
        <p:spPr>
          <a:xfrm rot="5400000">
            <a:off x="2935920" y="2521046"/>
            <a:ext cx="620119" cy="2958169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226543" y="4310190"/>
            <a:ext cx="2913381" cy="634877"/>
          </a:xfrm>
          <a:prstGeom prst="rect">
            <a:avLst/>
          </a:prstGeom>
          <a:solidFill>
            <a:srgbClr val="FF8C00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.NET Framework Library</a:t>
            </a:r>
            <a:endParaRPr lang="en-US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68373" y="4310190"/>
            <a:ext cx="2913382" cy="634877"/>
          </a:xfrm>
          <a:prstGeom prst="rect">
            <a:avLst/>
          </a:prstGeom>
          <a:solidFill>
            <a:srgbClr val="107C10"/>
          </a:solidFill>
          <a:ln>
            <a:solidFill>
              <a:srgbClr val="0D630D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Portable Class Library</a:t>
            </a:r>
            <a:endParaRPr lang="en-US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0" name="Straight Arrow Connector 22"/>
          <p:cNvCxnSpPr>
            <a:cxnSpLocks/>
            <a:stCxn id="5" idx="2"/>
            <a:endCxn id="8" idx="0"/>
          </p:cNvCxnSpPr>
          <p:nvPr/>
        </p:nvCxnSpPr>
        <p:spPr>
          <a:xfrm rot="16200000" flipH="1">
            <a:off x="5894089" y="2521044"/>
            <a:ext cx="620119" cy="2958171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/>
            <a:stCxn id="5" idx="2"/>
            <a:endCxn id="9" idx="0"/>
          </p:cNvCxnSpPr>
          <p:nvPr/>
        </p:nvCxnSpPr>
        <p:spPr>
          <a:xfrm>
            <a:off x="4725063" y="3690071"/>
            <a:ext cx="1" cy="62011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627653" y="3950961"/>
            <a:ext cx="1937658" cy="359228"/>
          </a:xfrm>
          <a:prstGeom prst="rect">
            <a:avLst/>
          </a:prstGeom>
          <a:solidFill>
            <a:srgbClr val="107C10"/>
          </a:solidFill>
          <a:ln>
            <a:solidFill>
              <a:srgbClr val="0D630D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Via Portability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27652" y="4378504"/>
            <a:ext cx="1937658" cy="359228"/>
          </a:xfrm>
          <a:prstGeom prst="rect">
            <a:avLst/>
          </a:prstGeom>
          <a:solidFill>
            <a:srgbClr val="FF8C00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Via Compatibility Shim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7652" y="2508272"/>
            <a:ext cx="801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Legend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204" y="1807576"/>
            <a:ext cx="2913381" cy="627498"/>
          </a:xfrm>
          <a:prstGeom prst="rect">
            <a:avLst/>
          </a:prstGeom>
          <a:solidFill>
            <a:srgbClr val="E6E6E6"/>
          </a:solidFill>
        </p:spPr>
        <p:txBody>
          <a:bodyPr wrap="square" lIns="179285" tIns="143428" rIns="179285" bIns="143428" rtlCol="0" anchor="ctr">
            <a:noAutofit/>
          </a:bodyPr>
          <a:lstStyle/>
          <a:p>
            <a:pPr marL="0" marR="0" lvl="0" indent="0" algn="ctr" defTabSz="89621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1" b="1" i="0" u="none" strike="noStrike" kern="0" cap="none" spc="0" normalizeH="0" baseline="0" noProof="0" dirty="0">
                <a:ln>
                  <a:noFill/>
                </a:ln>
                <a:solidFill>
                  <a:srgbClr val="A9A9A9"/>
                </a:soli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.NET 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8373" y="1807576"/>
            <a:ext cx="2913381" cy="627498"/>
          </a:xfrm>
          <a:prstGeom prst="rect">
            <a:avLst/>
          </a:prstGeom>
          <a:solidFill>
            <a:srgbClr val="E6E6E6"/>
          </a:solidFill>
        </p:spPr>
        <p:txBody>
          <a:bodyPr wrap="square" lIns="179285" tIns="143428" rIns="179285" bIns="143428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2000" kern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0" marR="0" lvl="0" indent="0" defTabSz="91422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1" b="1" i="0" u="none" strike="noStrike" kern="0" cap="none" spc="0" normalizeH="0" baseline="0" noProof="0" dirty="0">
                <a:ln>
                  <a:noFill/>
                </a:ln>
                <a:solidFill>
                  <a:srgbClr val="A9A9A9"/>
                </a:soli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.NET 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6543" y="1807577"/>
            <a:ext cx="2913381" cy="627498"/>
          </a:xfrm>
          <a:prstGeom prst="rect">
            <a:avLst/>
          </a:prstGeom>
          <a:solidFill>
            <a:srgbClr val="E6E6E6"/>
          </a:solidFill>
        </p:spPr>
        <p:txBody>
          <a:bodyPr wrap="square" lIns="179285" tIns="143428" rIns="179285" bIns="143428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2000" kern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0" marR="0" lvl="0" indent="0" defTabSz="91422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61" b="1" i="0" u="none" strike="noStrike" kern="0" cap="none" spc="0" normalizeH="0" baseline="0" noProof="0" dirty="0">
                <a:ln>
                  <a:noFill/>
                </a:ln>
                <a:solidFill>
                  <a:srgbClr val="A9A9A9"/>
                </a:soli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XAMARIN</a:t>
            </a:r>
          </a:p>
        </p:txBody>
      </p:sp>
      <p:cxnSp>
        <p:nvCxnSpPr>
          <p:cNvPr id="19" name="Straight Arrow Connector 18"/>
          <p:cNvCxnSpPr>
            <a:cxnSpLocks/>
            <a:stCxn id="17" idx="2"/>
            <a:endCxn id="5" idx="0"/>
          </p:cNvCxnSpPr>
          <p:nvPr/>
        </p:nvCxnSpPr>
        <p:spPr>
          <a:xfrm flipH="1">
            <a:off x="4725063" y="2435074"/>
            <a:ext cx="1" cy="633432"/>
          </a:xfrm>
          <a:prstGeom prst="straightConnector1">
            <a:avLst/>
          </a:prstGeom>
          <a:ln w="38100">
            <a:solidFill>
              <a:srgbClr val="B9D4ED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/>
            <a:stCxn id="16" idx="2"/>
            <a:endCxn id="5" idx="0"/>
          </p:cNvCxnSpPr>
          <p:nvPr/>
        </p:nvCxnSpPr>
        <p:spPr>
          <a:xfrm rot="16200000" flipH="1">
            <a:off x="2929263" y="1272706"/>
            <a:ext cx="633432" cy="2958168"/>
          </a:xfrm>
          <a:prstGeom prst="bentConnector3">
            <a:avLst>
              <a:gd name="adj1" fmla="val 50000"/>
            </a:avLst>
          </a:prstGeom>
          <a:ln w="38100">
            <a:solidFill>
              <a:srgbClr val="B9D4ED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2"/>
          <p:cNvCxnSpPr>
            <a:cxnSpLocks/>
            <a:stCxn id="18" idx="2"/>
            <a:endCxn id="5" idx="0"/>
          </p:cNvCxnSpPr>
          <p:nvPr/>
        </p:nvCxnSpPr>
        <p:spPr>
          <a:xfrm rot="5400000">
            <a:off x="5887434" y="1272705"/>
            <a:ext cx="633431" cy="2958171"/>
          </a:xfrm>
          <a:prstGeom prst="bentConnector3">
            <a:avLst>
              <a:gd name="adj1" fmla="val 50000"/>
            </a:avLst>
          </a:prstGeom>
          <a:ln w="38100">
            <a:solidFill>
              <a:srgbClr val="B9D4ED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627653" y="3444598"/>
            <a:ext cx="1937658" cy="359228"/>
          </a:xfrm>
          <a:prstGeom prst="rect">
            <a:avLst/>
          </a:prstGeom>
          <a:solidFill>
            <a:srgbClr val="E6E6E6"/>
          </a:solidFill>
        </p:spPr>
        <p:txBody>
          <a:bodyPr wrap="square" lIns="179285" tIns="143428" rIns="179285" bIns="143428" rtlCol="0" anchor="ctr">
            <a:noAutofit/>
          </a:bodyPr>
          <a:lstStyle>
            <a:defPPr>
              <a:defRPr lang="en-US"/>
            </a:defPPr>
            <a:lvl1pPr algn="ctr" defTabSz="914224">
              <a:lnSpc>
                <a:spcPct val="90000"/>
              </a:lnSpc>
              <a:defRPr sz="2000" kern="0"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0" marR="0" lvl="0" indent="0" algn="l" defTabSz="914224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A9A9A9"/>
                </a:solidFill>
                <a:effectLst/>
                <a:uLnTx/>
                <a:uFillTx/>
                <a:latin typeface="Segoe UI"/>
                <a:cs typeface="Segoe UI Semibold" panose="020B0702040204020203" pitchFamily="34" charset="0"/>
              </a:rPr>
              <a:t>Application Type</a:t>
            </a:r>
          </a:p>
        </p:txBody>
      </p:sp>
      <p:cxnSp>
        <p:nvCxnSpPr>
          <p:cNvPr id="21" name="Straight Arrow Connector 20"/>
          <p:cNvCxnSpPr>
            <a:cxnSpLocks/>
          </p:cNvCxnSpPr>
          <p:nvPr/>
        </p:nvCxnSpPr>
        <p:spPr>
          <a:xfrm>
            <a:off x="9627652" y="3166851"/>
            <a:ext cx="470269" cy="5766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127512" y="3038230"/>
            <a:ext cx="14558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Is able to reference</a:t>
            </a:r>
          </a:p>
        </p:txBody>
      </p:sp>
    </p:spTree>
    <p:extLst>
      <p:ext uri="{BB962C8B-B14F-4D97-AF65-F5344CB8AC3E}">
        <p14:creationId xmlns:p14="http://schemas.microsoft.com/office/powerpoint/2010/main" val="350895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193</Words>
  <Application>Microsoft Office PowerPoint</Application>
  <PresentationFormat>Widescreen</PresentationFormat>
  <Paragraphs>82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Calibri Light</vt:lpstr>
      <vt:lpstr>Segoe UI</vt:lpstr>
      <vt:lpstr>Segoe UI Light</vt:lpstr>
      <vt:lpstr>Segoe UI Semibold</vt:lpstr>
      <vt:lpstr>Segoe UI Semilight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Immo Landwerth</dc:creator>
  <cp:lastModifiedBy>Immo Landwerth</cp:lastModifiedBy>
  <cp:revision>28</cp:revision>
  <dcterms:created xsi:type="dcterms:W3CDTF">2016-09-13T15:27:39Z</dcterms:created>
  <dcterms:modified xsi:type="dcterms:W3CDTF">2016-09-23T23:16:58Z</dcterms:modified>
</cp:coreProperties>
</file>