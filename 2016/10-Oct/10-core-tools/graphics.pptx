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4" r:id="rId4"/>
    <p:sldId id="265" r:id="rId5"/>
    <p:sldId id="263" r:id="rId6"/>
    <p:sldId id="262" r:id="rId7"/>
    <p:sldId id="256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050"/>
    <a:srgbClr val="CFCFCF"/>
    <a:srgbClr val="FFFFFF"/>
    <a:srgbClr val="B9D4ED"/>
    <a:srgbClr val="9BC2E5"/>
    <a:srgbClr val="E6E6E6"/>
    <a:srgbClr val="A9A9A9"/>
    <a:srgbClr val="5B9BD5"/>
    <a:srgbClr val="FF8C00"/>
    <a:srgbClr val="107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86420"/>
  </p:normalViewPr>
  <p:slideViewPr>
    <p:cSldViewPr snapToGrid="0">
      <p:cViewPr varScale="1">
        <p:scale>
          <a:sx n="94" d="100"/>
          <a:sy n="94" d="100"/>
        </p:scale>
        <p:origin x="200" y="5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69D8B-A379-FB4B-8F4D-72C8906BAD20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F251B-A671-FF4A-A038-E8A304653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84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EC29EE-A8AD-4CE0-9C0B-116E0D4D7533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10/11/16 10:19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1625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8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2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4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4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3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6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64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975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83E47-5F36-48BA-9B57-B18F4BD69A91}" type="datetimeFigureOut">
              <a:rPr lang="en-US" smtClean="0"/>
              <a:t>10/11/16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tif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2106646" y="840013"/>
            <a:ext cx="2913381" cy="3944269"/>
          </a:xfrm>
          <a:prstGeom prst="rect">
            <a:avLst/>
          </a:prstGeom>
          <a:solidFill>
            <a:srgbClr val="107C1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6646" y="840013"/>
            <a:ext cx="2913381" cy="627498"/>
          </a:xfrm>
          <a:prstGeom prst="rect">
            <a:avLst/>
          </a:prstGeom>
          <a:solidFill>
            <a:srgbClr val="107C1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064815" y="840013"/>
            <a:ext cx="2913381" cy="3944269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4815" y="840013"/>
            <a:ext cx="2913381" cy="627498"/>
          </a:xfrm>
          <a:prstGeom prst="rect">
            <a:avLst/>
          </a:prstGeom>
          <a:solidFill>
            <a:srgbClr val="0078D7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8022985" y="840014"/>
            <a:ext cx="2913381" cy="3944269"/>
          </a:xfrm>
          <a:prstGeom prst="rect">
            <a:avLst/>
          </a:prstGeom>
          <a:solidFill>
            <a:srgbClr val="FF8C0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2985" y="840014"/>
            <a:ext cx="2913381" cy="627498"/>
          </a:xfrm>
          <a:prstGeom prst="rect">
            <a:avLst/>
          </a:prstGeom>
          <a:solidFill>
            <a:srgbClr val="FF8C0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6646" y="1557146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99872" y="1557146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b="1" dirty="0">
                <a:latin typeface="Segoe UI"/>
              </a:rPr>
              <a:t>APP</a:t>
            </a:r>
          </a:p>
          <a:p>
            <a:r>
              <a:rPr lang="en-US" sz="1568" b="1" dirty="0">
                <a:latin typeface="Segoe UI"/>
              </a:rPr>
              <a:t>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6646" y="3170692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99872" y="3170692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b="1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dirty="0">
                <a:latin typeface="Segoe UI"/>
              </a:rPr>
              <a:t>BASE</a:t>
            </a:r>
          </a:p>
          <a:p>
            <a:r>
              <a:rPr lang="en-US" sz="1568" dirty="0">
                <a:latin typeface="Segoe UI"/>
              </a:rPr>
              <a:t>LIBRARIES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2106645" y="4918722"/>
            <a:ext cx="8829784" cy="1120531"/>
            <a:chOff x="1973256" y="5222473"/>
            <a:chExt cx="8553106" cy="1120850"/>
          </a:xfrm>
        </p:grpSpPr>
        <p:sp>
          <p:nvSpPr>
            <p:cNvPr id="50" name="TextBox 49"/>
            <p:cNvSpPr txBox="1"/>
            <p:nvPr/>
          </p:nvSpPr>
          <p:spPr>
            <a:xfrm>
              <a:off x="1973256" y="5222473"/>
              <a:ext cx="8553106" cy="1120850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179285" tIns="143428" rIns="179285" bIns="143428" rtlCol="0" anchor="ctr">
              <a:noAutofit/>
            </a:bodyPr>
            <a:lstStyle/>
            <a:p>
              <a:pPr marL="0" marR="0" lvl="0" indent="0" algn="ctr" defTabSz="89621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68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059735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solidFill>
                    <a:sysClr val="windowText" lastClr="000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Compilers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25243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Languages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790751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Runtime components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973256" y="5222474"/>
              <a:ext cx="8553106" cy="403506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COMMON INFRASTRUCTURE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195923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Base Class Library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4092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 Core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2262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Mono Class Library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2195923" y="1714020"/>
            <a:ext cx="2734096" cy="1210174"/>
            <a:chOff x="1188720" y="2356171"/>
            <a:chExt cx="2788920" cy="1234440"/>
          </a:xfrm>
        </p:grpSpPr>
        <p:sp>
          <p:nvSpPr>
            <p:cNvPr id="59" name="TextBox 58"/>
            <p:cNvSpPr txBox="1"/>
            <p:nvPr/>
          </p:nvSpPr>
          <p:spPr>
            <a:xfrm>
              <a:off x="1897380" y="2996251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1188720" y="2356171"/>
              <a:ext cx="2788920" cy="594360"/>
              <a:chOff x="1645920" y="2384389"/>
              <a:chExt cx="2417064" cy="594360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874264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Windows Forms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645920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WPF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5154124" y="1714020"/>
            <a:ext cx="2734096" cy="1210174"/>
            <a:chOff x="4206240" y="2102819"/>
            <a:chExt cx="2788920" cy="1234440"/>
          </a:xfrm>
        </p:grpSpPr>
        <p:sp>
          <p:nvSpPr>
            <p:cNvPr id="64" name="TextBox 63"/>
            <p:cNvSpPr txBox="1"/>
            <p:nvPr/>
          </p:nvSpPr>
          <p:spPr>
            <a:xfrm>
              <a:off x="4206240" y="210281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UWP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274289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 Core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112326" y="1714020"/>
            <a:ext cx="2734096" cy="1210174"/>
            <a:chOff x="7223760" y="2102819"/>
            <a:chExt cx="2788920" cy="1234440"/>
          </a:xfrm>
        </p:grpSpPr>
        <p:sp>
          <p:nvSpPr>
            <p:cNvPr id="67" name="TextBox 66"/>
            <p:cNvSpPr txBox="1"/>
            <p:nvPr/>
          </p:nvSpPr>
          <p:spPr>
            <a:xfrm>
              <a:off x="7223760" y="210281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iOS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41080" y="242285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Android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3760" y="274289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OS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4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2106646" y="840014"/>
            <a:ext cx="2913381" cy="2241036"/>
          </a:xfrm>
          <a:prstGeom prst="rect">
            <a:avLst/>
          </a:prstGeom>
          <a:solidFill>
            <a:srgbClr val="107C1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6646" y="840013"/>
            <a:ext cx="2913381" cy="627498"/>
          </a:xfrm>
          <a:prstGeom prst="rect">
            <a:avLst/>
          </a:prstGeom>
          <a:solidFill>
            <a:srgbClr val="107C1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064815" y="840014"/>
            <a:ext cx="2913381" cy="2241036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4815" y="840013"/>
            <a:ext cx="2913381" cy="627498"/>
          </a:xfrm>
          <a:prstGeom prst="rect">
            <a:avLst/>
          </a:prstGeom>
          <a:solidFill>
            <a:srgbClr val="0078D7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8022985" y="840015"/>
            <a:ext cx="2913381" cy="2241036"/>
          </a:xfrm>
          <a:prstGeom prst="rect">
            <a:avLst/>
          </a:prstGeom>
          <a:solidFill>
            <a:srgbClr val="FF8C0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2985" y="840014"/>
            <a:ext cx="2913381" cy="627498"/>
          </a:xfrm>
          <a:prstGeom prst="rect">
            <a:avLst/>
          </a:prstGeom>
          <a:solidFill>
            <a:srgbClr val="FF8C0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6646" y="1557146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99872" y="1557146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b="1" dirty="0">
                <a:latin typeface="Segoe UI"/>
              </a:rPr>
              <a:t>APP</a:t>
            </a:r>
          </a:p>
          <a:p>
            <a:r>
              <a:rPr lang="en-US" sz="1568" b="1" dirty="0">
                <a:latin typeface="Segoe UI"/>
              </a:rPr>
              <a:t>MODELS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2106645" y="4918722"/>
            <a:ext cx="8829784" cy="1120531"/>
            <a:chOff x="1973256" y="5222473"/>
            <a:chExt cx="8553106" cy="1120850"/>
          </a:xfrm>
        </p:grpSpPr>
        <p:sp>
          <p:nvSpPr>
            <p:cNvPr id="50" name="TextBox 49"/>
            <p:cNvSpPr txBox="1"/>
            <p:nvPr/>
          </p:nvSpPr>
          <p:spPr>
            <a:xfrm>
              <a:off x="1973256" y="5222473"/>
              <a:ext cx="8553106" cy="1120850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179285" tIns="143428" rIns="179285" bIns="143428" rtlCol="0" anchor="ctr">
              <a:noAutofit/>
            </a:bodyPr>
            <a:lstStyle/>
            <a:p>
              <a:pPr marL="0" marR="0" lvl="0" indent="0" algn="ctr" defTabSz="89621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68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059735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solidFill>
                    <a:sysClr val="windowText" lastClr="000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Compilers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25243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Languages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790751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Runtime components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973256" y="5222474"/>
              <a:ext cx="8553106" cy="403506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COMMON INFRASTRUCTURE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195923" y="1714020"/>
            <a:ext cx="2734096" cy="1210174"/>
            <a:chOff x="1188720" y="2356171"/>
            <a:chExt cx="2788920" cy="1234440"/>
          </a:xfrm>
        </p:grpSpPr>
        <p:sp>
          <p:nvSpPr>
            <p:cNvPr id="59" name="TextBox 58"/>
            <p:cNvSpPr txBox="1"/>
            <p:nvPr/>
          </p:nvSpPr>
          <p:spPr>
            <a:xfrm>
              <a:off x="1897380" y="2996251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1188720" y="2356171"/>
              <a:ext cx="2788920" cy="594360"/>
              <a:chOff x="1645920" y="2384389"/>
              <a:chExt cx="2417064" cy="594360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874264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Windows Forms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645920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WPF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5154124" y="1714020"/>
            <a:ext cx="2734096" cy="1210174"/>
            <a:chOff x="4206240" y="2102819"/>
            <a:chExt cx="2788920" cy="1234440"/>
          </a:xfrm>
        </p:grpSpPr>
        <p:sp>
          <p:nvSpPr>
            <p:cNvPr id="64" name="TextBox 63"/>
            <p:cNvSpPr txBox="1"/>
            <p:nvPr/>
          </p:nvSpPr>
          <p:spPr>
            <a:xfrm>
              <a:off x="4206240" y="210281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UWP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274289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 Core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112326" y="1714020"/>
            <a:ext cx="2734096" cy="1210174"/>
            <a:chOff x="7223760" y="2102819"/>
            <a:chExt cx="2788920" cy="1234440"/>
          </a:xfrm>
        </p:grpSpPr>
        <p:sp>
          <p:nvSpPr>
            <p:cNvPr id="67" name="TextBox 66"/>
            <p:cNvSpPr txBox="1"/>
            <p:nvPr/>
          </p:nvSpPr>
          <p:spPr>
            <a:xfrm>
              <a:off x="7223760" y="210281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iOS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41080" y="242285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Android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3760" y="274289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OS X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2106280" y="3170692"/>
            <a:ext cx="8829784" cy="1523922"/>
          </a:xfrm>
          <a:prstGeom prst="rect">
            <a:avLst/>
          </a:prstGeom>
          <a:solidFill>
            <a:srgbClr val="D83B01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STANDARD LIBRARY</a:t>
            </a:r>
          </a:p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One library to rule them all</a:t>
            </a:r>
          </a:p>
        </p:txBody>
      </p:sp>
    </p:spTree>
    <p:extLst>
      <p:ext uri="{BB962C8B-B14F-4D97-AF65-F5344CB8AC3E}">
        <p14:creationId xmlns:p14="http://schemas.microsoft.com/office/powerpoint/2010/main" val="213633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2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 bwMode="auto">
          <a:xfrm>
            <a:off x="6633010" y="1367247"/>
            <a:ext cx="2912968" cy="2086084"/>
          </a:xfrm>
          <a:prstGeom prst="rect">
            <a:avLst/>
          </a:prstGeom>
          <a:solidFill>
            <a:srgbClr val="50505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59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r>
              <a: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MOBILE APPLICATIONS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717510" y="1367246"/>
            <a:ext cx="2912968" cy="2086084"/>
          </a:xfrm>
          <a:prstGeom prst="rect">
            <a:avLst/>
          </a:prstGeom>
          <a:solidFill>
            <a:srgbClr val="D83B01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59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r>
              <a: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WINDOWS APPLICATIONS</a:t>
            </a:r>
          </a:p>
        </p:txBody>
      </p:sp>
      <p:sp>
        <p:nvSpPr>
          <p:cNvPr id="97" name="Rectangle 96"/>
          <p:cNvSpPr/>
          <p:nvPr/>
        </p:nvSpPr>
        <p:spPr bwMode="auto">
          <a:xfrm>
            <a:off x="3675259" y="1367246"/>
            <a:ext cx="2912968" cy="2086084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59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endParaRPr lang="en-US" sz="1961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 defTabSz="894448">
              <a:lnSpc>
                <a:spcPct val="90000"/>
              </a:lnSpc>
            </a:pPr>
            <a:r>
              <a: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CROSS-PLATFORM SERVICES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platform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446" y="5062626"/>
            <a:ext cx="8828532" cy="1503126"/>
          </a:xfrm>
          <a:prstGeom prst="rect">
            <a:avLst/>
          </a:prstGeom>
          <a:solidFill>
            <a:srgbClr val="D2D2D2"/>
          </a:solidFill>
        </p:spPr>
        <p:txBody>
          <a:bodyPr wrap="square" lIns="179259" tIns="143407" rIns="179259" bIns="143407" rtlCol="0" anchor="ctr">
            <a:noAutofit/>
          </a:bodyPr>
          <a:lstStyle/>
          <a:p>
            <a:pPr algn="ctr" defTabSz="896042">
              <a:lnSpc>
                <a:spcPct val="90000"/>
              </a:lnSpc>
              <a:defRPr/>
            </a:pPr>
            <a:endParaRPr lang="en-US" sz="1567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6711" y="5759435"/>
            <a:ext cx="2733708" cy="537778"/>
          </a:xfrm>
          <a:prstGeom prst="rect">
            <a:avLst/>
          </a:prstGeom>
          <a:solidFill>
            <a:srgbClr val="000000">
              <a:alpha val="10196"/>
            </a:srgbClr>
          </a:solidFill>
        </p:spPr>
        <p:txBody>
          <a:bodyPr wrap="square" lIns="179259" tIns="143407" rIns="179259" bIns="143407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solidFill>
                  <a:sysClr val="windowText" lastClr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defTabSz="914048">
              <a:defRPr/>
            </a:pPr>
            <a:r>
              <a:rPr lang="en-US" sz="1567" b="1" dirty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latin typeface="Segoe UI"/>
                <a:cs typeface="Segoe UI Semilight" panose="020B0402040204020203" pitchFamily="34" charset="0"/>
              </a:rPr>
              <a:t>Compilers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64493" y="5759435"/>
            <a:ext cx="2733708" cy="537778"/>
          </a:xfrm>
          <a:prstGeom prst="rect">
            <a:avLst/>
          </a:prstGeom>
          <a:solidFill>
            <a:srgbClr val="000000">
              <a:alpha val="10196"/>
            </a:srgbClr>
          </a:solidFill>
        </p:spPr>
        <p:txBody>
          <a:bodyPr wrap="square" lIns="179259" tIns="143407" rIns="179259" bIns="143407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b="1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pPr defTabSz="914048">
              <a:defRPr/>
            </a:pPr>
            <a:r>
              <a:rPr lang="en-US" sz="1567" dirty="0"/>
              <a:t>Languages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2276" y="5759435"/>
            <a:ext cx="2733708" cy="537778"/>
          </a:xfrm>
          <a:prstGeom prst="rect">
            <a:avLst/>
          </a:prstGeom>
          <a:solidFill>
            <a:srgbClr val="000000">
              <a:alpha val="10196"/>
            </a:srgbClr>
          </a:solidFill>
        </p:spPr>
        <p:txBody>
          <a:bodyPr wrap="square" lIns="179259" tIns="143407" rIns="179259" bIns="143407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b="1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pPr defTabSz="914048">
              <a:defRPr/>
            </a:pPr>
            <a:r>
              <a:rPr lang="en-US" sz="1567" dirty="0"/>
              <a:t>Runtime components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446" y="5038913"/>
            <a:ext cx="8828532" cy="403334"/>
          </a:xfrm>
          <a:prstGeom prst="rect">
            <a:avLst/>
          </a:prstGeom>
          <a:solidFill>
            <a:srgbClr val="000000">
              <a:alpha val="10196"/>
            </a:srgbClr>
          </a:solidFill>
        </p:spPr>
        <p:txBody>
          <a:bodyPr wrap="square" lIns="179259" tIns="143407" rIns="179259" bIns="143407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b="1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pPr defTabSz="914048">
              <a:defRPr/>
            </a:pPr>
            <a:r>
              <a:rPr lang="en-US" sz="1567" dirty="0"/>
              <a:t>COMMON INFRASTRUCTURE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447" y="3563365"/>
            <a:ext cx="8828532" cy="1389227"/>
          </a:xfrm>
          <a:prstGeom prst="rect">
            <a:avLst/>
          </a:prstGeom>
          <a:solidFill>
            <a:srgbClr val="FF8C00"/>
          </a:solidFill>
        </p:spPr>
        <p:txBody>
          <a:bodyPr wrap="square" lIns="179259" tIns="143407" rIns="179259" bIns="143407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defTabSz="914048">
              <a:defRPr/>
            </a:pPr>
            <a:r>
              <a:rPr lang="en-US" sz="1961" b="1" dirty="0">
                <a:solidFill>
                  <a:schemeClr val="bg1"/>
                </a:solidFill>
                <a:latin typeface="Segoe UI"/>
              </a:rPr>
              <a:t>.NET STANDARD LIBRARY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9635245" y="1367247"/>
            <a:ext cx="1927041" cy="5195531"/>
            <a:chOff x="7489548" y="1582077"/>
            <a:chExt cx="1929967" cy="5197742"/>
          </a:xfrm>
          <a:solidFill>
            <a:srgbClr val="FFFFFF">
              <a:lumMod val="85000"/>
            </a:srgbClr>
          </a:solidFill>
        </p:grpSpPr>
        <p:sp>
          <p:nvSpPr>
            <p:cNvPr id="110" name="Rectangle 109"/>
            <p:cNvSpPr/>
            <p:nvPr/>
          </p:nvSpPr>
          <p:spPr bwMode="auto">
            <a:xfrm>
              <a:off x="7489549" y="1582078"/>
              <a:ext cx="1929966" cy="5197741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179259" tIns="143407" rIns="179259" bIns="143407" numCol="1" rtlCol="0" anchor="t" anchorCtr="0" compatLnSpc="1">
              <a:prstTxWarp prst="textNoShape">
                <a:avLst/>
              </a:prstTxWarp>
            </a:bodyPr>
            <a:lstStyle/>
            <a:p>
              <a:pPr defTabSz="894448">
                <a:defRPr/>
              </a:pPr>
              <a:r>
                <a:rPr lang="en-US" sz="2742" kern="0" dirty="0">
                  <a:gradFill>
                    <a:gsLst>
                      <a:gs pos="14679">
                        <a:srgbClr val="FFFFFF"/>
                      </a:gs>
                      <a:gs pos="38000">
                        <a:srgbClr val="FFFFFF"/>
                      </a:gs>
                    </a:gsLst>
                    <a:lin ang="5400000" scaled="1"/>
                  </a:gradFill>
                  <a:latin typeface="Segoe UI Light"/>
                </a:rPr>
                <a:t> 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7489548" y="1582077"/>
              <a:ext cx="1929965" cy="627675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59" tIns="143407" rIns="179259" bIns="143407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algn="l" defTabSz="914048">
                <a:defRPr/>
              </a:pPr>
              <a:r>
                <a:rPr lang="en-US" sz="1961" dirty="0"/>
                <a:t>TOOLS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9839894" y="2129077"/>
            <a:ext cx="1517743" cy="1324254"/>
            <a:chOff x="10404342" y="1920240"/>
            <a:chExt cx="1548397" cy="1351000"/>
          </a:xfrm>
        </p:grpSpPr>
        <p:pic>
          <p:nvPicPr>
            <p:cNvPr id="108" name="Picture 107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67" r="9586"/>
            <a:stretch/>
          </p:blipFill>
          <p:spPr bwMode="auto">
            <a:xfrm>
              <a:off x="10831921" y="1920240"/>
              <a:ext cx="693238" cy="1174557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>
              <a:noFill/>
            </a:ln>
            <a:extLst/>
          </p:spPr>
        </p:pic>
        <p:sp>
          <p:nvSpPr>
            <p:cNvPr id="109" name="TextBox 108"/>
            <p:cNvSpPr txBox="1"/>
            <p:nvPr/>
          </p:nvSpPr>
          <p:spPr>
            <a:xfrm>
              <a:off x="10404342" y="2763859"/>
              <a:ext cx="1548397" cy="50738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</p:spPr>
          <p:txBody>
            <a:bodyPr wrap="square" lIns="91427" tIns="143407" rIns="91427" bIns="143407" rtlCol="0">
              <a:spAutoFit/>
            </a:bodyPr>
            <a:lstStyle/>
            <a:p>
              <a:pPr algn="ctr" defTabSz="896042">
                <a:lnSpc>
                  <a:spcPct val="90000"/>
                </a:lnSpc>
                <a:defRPr/>
              </a:pPr>
              <a:r>
                <a:rPr lang="en-US" sz="1500" kern="0" dirty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rPr>
                <a:t>Visual Studio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9635246" y="3367619"/>
            <a:ext cx="1927040" cy="1324253"/>
            <a:chOff x="10195561" y="3458117"/>
            <a:chExt cx="1965960" cy="1350999"/>
          </a:xfrm>
        </p:grpSpPr>
        <p:sp>
          <p:nvSpPr>
            <p:cNvPr id="106" name="TextBox 105"/>
            <p:cNvSpPr txBox="1"/>
            <p:nvPr/>
          </p:nvSpPr>
          <p:spPr>
            <a:xfrm>
              <a:off x="10195561" y="4301735"/>
              <a:ext cx="1965960" cy="507381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</p:spPr>
          <p:txBody>
            <a:bodyPr wrap="square" lIns="91427" tIns="143407" rIns="91427" bIns="143407" rtlCol="0">
              <a:spAutoFit/>
            </a:bodyPr>
            <a:lstStyle/>
            <a:p>
              <a:pPr algn="ctr" defTabSz="896042">
                <a:lnSpc>
                  <a:spcPct val="90000"/>
                </a:lnSpc>
                <a:defRPr/>
              </a:pPr>
              <a:r>
                <a:rPr lang="en-US" sz="1500" kern="0" dirty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rPr>
                <a:t>Visual Studio Code</a:t>
              </a:r>
            </a:p>
          </p:txBody>
        </p:sp>
        <p:pic>
          <p:nvPicPr>
            <p:cNvPr id="107" name="Picture 106"/>
            <p:cNvPicPr>
              <a:picLocks noChangeAspect="1" noChangeArrowheads="1"/>
            </p:cNvPicPr>
            <p:nvPr/>
          </p:nvPicPr>
          <p:blipFill rotWithShape="1">
            <a:blip r:embed="rId3" cstate="print">
              <a:duotone>
                <a:srgbClr val="0078D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4" r="11806"/>
            <a:stretch/>
          </p:blipFill>
          <p:spPr bwMode="auto">
            <a:xfrm>
              <a:off x="10852015" y="3458117"/>
              <a:ext cx="653051" cy="1174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1" name="Picture 10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363" y="4702939"/>
            <a:ext cx="1046803" cy="1046803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632619" y="5553731"/>
            <a:ext cx="1927040" cy="497336"/>
          </a:xfrm>
          <a:prstGeom prst="rect">
            <a:avLst/>
          </a:prstGeom>
          <a:solidFill>
            <a:srgbClr val="FFFFFF">
              <a:lumMod val="85000"/>
            </a:srgbClr>
          </a:solidFill>
        </p:spPr>
        <p:txBody>
          <a:bodyPr wrap="square" lIns="91427" tIns="143407" rIns="91427" bIns="143407" rtlCol="0">
            <a:spAutoFit/>
          </a:bodyPr>
          <a:lstStyle/>
          <a:p>
            <a:pPr algn="ctr" defTabSz="896042">
              <a:lnSpc>
                <a:spcPct val="90000"/>
              </a:lnSpc>
              <a:defRPr/>
            </a:pPr>
            <a:r>
              <a:rPr lang="en-US" sz="1500" kern="0" dirty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rPr>
              <a:t>Xamarin Studio</a:t>
            </a:r>
          </a:p>
        </p:txBody>
      </p:sp>
      <p:sp>
        <p:nvSpPr>
          <p:cNvPr id="117" name="TextBox 2"/>
          <p:cNvSpPr txBox="1"/>
          <p:nvPr/>
        </p:nvSpPr>
        <p:spPr>
          <a:xfrm>
            <a:off x="717449" y="1367247"/>
            <a:ext cx="2913030" cy="71866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wrap="square" lIns="179259" tIns="143407" rIns="179259" bIns="143407" rtlCol="0" anchor="ctr">
            <a:noAutofit/>
          </a:bodyPr>
          <a:lstStyle/>
          <a:p>
            <a:pPr algn="ctr" defTabSz="896042">
              <a:defRPr/>
            </a:pPr>
            <a:r>
              <a:rPr lang="en-US" sz="1961" b="1" kern="0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3675261" y="1369920"/>
            <a:ext cx="2912968" cy="71866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wrap="square" lIns="179259" tIns="143407" rIns="179259" bIns="143407" rtlCol="0" anchor="ctr">
            <a:noAutofit/>
          </a:bodyPr>
          <a:lstStyle/>
          <a:p>
            <a:pPr algn="ctr" defTabSz="896042">
              <a:defRPr/>
            </a:pPr>
            <a:r>
              <a:rPr lang="en-US" sz="1961" b="1" kern="0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119" name="TextBox 2"/>
          <p:cNvSpPr txBox="1"/>
          <p:nvPr/>
        </p:nvSpPr>
        <p:spPr>
          <a:xfrm>
            <a:off x="6633010" y="1367247"/>
            <a:ext cx="2912970" cy="718662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txBody>
          <a:bodyPr wrap="square" lIns="179259" tIns="143407" rIns="179259" bIns="143407" rtlCol="0" anchor="ctr">
            <a:noAutofit/>
          </a:bodyPr>
          <a:lstStyle/>
          <a:p>
            <a:pPr algn="ctr" defTabSz="896042">
              <a:defRPr/>
            </a:pPr>
            <a:r>
              <a:rPr lang="en-US" sz="1961" b="1" kern="0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</p:spTree>
    <p:extLst>
      <p:ext uri="{BB962C8B-B14F-4D97-AF65-F5344CB8AC3E}">
        <p14:creationId xmlns:p14="http://schemas.microsoft.com/office/powerpoint/2010/main" val="184239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173937" y="1172523"/>
            <a:ext cx="2913381" cy="2241036"/>
          </a:xfrm>
          <a:prstGeom prst="rect">
            <a:avLst/>
          </a:prstGeom>
          <a:solidFill>
            <a:srgbClr val="107C1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937" y="1172522"/>
            <a:ext cx="2913381" cy="627498"/>
          </a:xfrm>
          <a:prstGeom prst="rect">
            <a:avLst/>
          </a:prstGeom>
          <a:solidFill>
            <a:srgbClr val="107C1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3132106" y="1172523"/>
            <a:ext cx="2913381" cy="2241036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2106" y="1172522"/>
            <a:ext cx="2913381" cy="627498"/>
          </a:xfrm>
          <a:prstGeom prst="rect">
            <a:avLst/>
          </a:prstGeom>
          <a:solidFill>
            <a:srgbClr val="0078D7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6090276" y="1172524"/>
            <a:ext cx="2913381" cy="2241036"/>
          </a:xfrm>
          <a:prstGeom prst="rect">
            <a:avLst/>
          </a:prstGeom>
          <a:solidFill>
            <a:srgbClr val="FF8C0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0276" y="1172523"/>
            <a:ext cx="2913381" cy="627498"/>
          </a:xfrm>
          <a:prstGeom prst="rect">
            <a:avLst/>
          </a:prstGeom>
          <a:solidFill>
            <a:srgbClr val="FF8C0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937" y="1889655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263214" y="2046529"/>
            <a:ext cx="2734096" cy="1210174"/>
            <a:chOff x="1188720" y="2356171"/>
            <a:chExt cx="2788920" cy="1234440"/>
          </a:xfrm>
        </p:grpSpPr>
        <p:sp>
          <p:nvSpPr>
            <p:cNvPr id="59" name="TextBox 58"/>
            <p:cNvSpPr txBox="1"/>
            <p:nvPr/>
          </p:nvSpPr>
          <p:spPr>
            <a:xfrm>
              <a:off x="1897380" y="2996251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1188720" y="2356171"/>
              <a:ext cx="2788920" cy="594360"/>
              <a:chOff x="1645920" y="2384389"/>
              <a:chExt cx="2417064" cy="594360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874264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Windows Forms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645920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WPF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3221415" y="2046529"/>
            <a:ext cx="2734096" cy="1210174"/>
            <a:chOff x="4206240" y="2102819"/>
            <a:chExt cx="2788920" cy="1234440"/>
          </a:xfrm>
        </p:grpSpPr>
        <p:sp>
          <p:nvSpPr>
            <p:cNvPr id="64" name="TextBox 63"/>
            <p:cNvSpPr txBox="1"/>
            <p:nvPr/>
          </p:nvSpPr>
          <p:spPr>
            <a:xfrm>
              <a:off x="4206240" y="210281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UWP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274289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 Core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179617" y="2046529"/>
            <a:ext cx="2734096" cy="1210174"/>
            <a:chOff x="7223760" y="2102819"/>
            <a:chExt cx="2788920" cy="1234440"/>
          </a:xfrm>
        </p:grpSpPr>
        <p:sp>
          <p:nvSpPr>
            <p:cNvPr id="67" name="TextBox 66"/>
            <p:cNvSpPr txBox="1"/>
            <p:nvPr/>
          </p:nvSpPr>
          <p:spPr>
            <a:xfrm>
              <a:off x="7223760" y="210281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iOS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41080" y="242285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Android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3760" y="274289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OS X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153867" y="3555604"/>
            <a:ext cx="11921451" cy="1523922"/>
          </a:xfrm>
          <a:prstGeom prst="rect">
            <a:avLst/>
          </a:prstGeom>
          <a:solidFill>
            <a:srgbClr val="D83B01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 smtClean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MSBUILD</a:t>
            </a:r>
            <a:endParaRPr kumimoji="0" lang="en-US" sz="1961" b="1" i="0" u="none" strike="noStrike" kern="0" cap="none" spc="0" normalizeH="0" baseline="0" noProof="0" dirty="0">
              <a:ln>
                <a:noFill/>
              </a:ln>
              <a:gradFill>
                <a:gsLst>
                  <a:gs pos="125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cs typeface="Segoe UI Semibold" panose="020B0702040204020203" pitchFamily="34" charset="0"/>
            </a:endParaRPr>
          </a:p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One </a:t>
            </a:r>
            <a:r>
              <a:rPr kumimoji="0" lang="en-US" sz="1765" b="0" i="0" u="none" strike="noStrike" kern="0" cap="none" spc="0" normalizeH="0" baseline="0" noProof="0" dirty="0" smtClean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build system to </a:t>
            </a:r>
            <a:r>
              <a: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rule them all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9048810" y="1172522"/>
            <a:ext cx="3026512" cy="2241038"/>
            <a:chOff x="7489548" y="1582077"/>
            <a:chExt cx="1929967" cy="5197742"/>
          </a:xfrm>
          <a:solidFill>
            <a:srgbClr val="FFFFFF">
              <a:lumMod val="85000"/>
            </a:srgbClr>
          </a:solidFill>
        </p:grpSpPr>
        <p:sp>
          <p:nvSpPr>
            <p:cNvPr id="30" name="Rectangle 29"/>
            <p:cNvSpPr/>
            <p:nvPr/>
          </p:nvSpPr>
          <p:spPr bwMode="auto">
            <a:xfrm>
              <a:off x="7489549" y="1582078"/>
              <a:ext cx="1929966" cy="5197741"/>
            </a:xfrm>
            <a:prstGeom prst="rect">
              <a:avLst/>
            </a:prstGeom>
            <a:grpFill/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179259" tIns="143407" rIns="179259" bIns="143407" numCol="1" rtlCol="0" anchor="t" anchorCtr="0" compatLnSpc="1">
              <a:prstTxWarp prst="textNoShape">
                <a:avLst/>
              </a:prstTxWarp>
            </a:bodyPr>
            <a:lstStyle/>
            <a:p>
              <a:pPr defTabSz="894448">
                <a:defRPr/>
              </a:pPr>
              <a:r>
                <a:rPr lang="en-US" sz="2742" kern="0" dirty="0">
                  <a:gradFill>
                    <a:gsLst>
                      <a:gs pos="14679">
                        <a:srgbClr val="FFFFFF"/>
                      </a:gs>
                      <a:gs pos="38000">
                        <a:srgbClr val="FFFFFF"/>
                      </a:gs>
                    </a:gsLst>
                    <a:lin ang="5400000" scaled="1"/>
                  </a:gradFill>
                  <a:latin typeface="Segoe UI Light"/>
                </a:rPr>
                <a:t> 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89548" y="1582077"/>
              <a:ext cx="1929965" cy="1455385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59" tIns="143407" rIns="179259" bIns="143407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defTabSz="914048">
                <a:defRPr/>
              </a:pPr>
              <a:r>
                <a:rPr lang="en-US" sz="1961" dirty="0"/>
                <a:t>TOOLS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805282" y="1536297"/>
            <a:ext cx="1517743" cy="1177339"/>
            <a:chOff x="10404342" y="2070122"/>
            <a:chExt cx="1548397" cy="1201118"/>
          </a:xfrm>
        </p:grpSpPr>
        <p:pic>
          <p:nvPicPr>
            <p:cNvPr id="33" name="Picture 3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67" r="9586"/>
            <a:stretch/>
          </p:blipFill>
          <p:spPr bwMode="auto">
            <a:xfrm>
              <a:off x="10848033" y="2070122"/>
              <a:ext cx="550590" cy="932868"/>
            </a:xfrm>
            <a:prstGeom prst="rect">
              <a:avLst/>
            </a:prstGeom>
            <a:noFill/>
            <a:ln>
              <a:noFill/>
            </a:ln>
            <a:extLst/>
          </p:spPr>
        </p:pic>
        <p:sp>
          <p:nvSpPr>
            <p:cNvPr id="34" name="TextBox 33"/>
            <p:cNvSpPr txBox="1"/>
            <p:nvPr/>
          </p:nvSpPr>
          <p:spPr>
            <a:xfrm>
              <a:off x="10404342" y="2763859"/>
              <a:ext cx="1548397" cy="507381"/>
            </a:xfrm>
            <a:prstGeom prst="rect">
              <a:avLst/>
            </a:prstGeom>
            <a:noFill/>
          </p:spPr>
          <p:txBody>
            <a:bodyPr wrap="square" lIns="91427" tIns="143407" rIns="91427" bIns="143407" rtlCol="0">
              <a:spAutoFit/>
            </a:bodyPr>
            <a:lstStyle/>
            <a:p>
              <a:pPr algn="ctr" defTabSz="896042">
                <a:lnSpc>
                  <a:spcPct val="90000"/>
                </a:lnSpc>
                <a:defRPr/>
              </a:pPr>
              <a:r>
                <a:rPr lang="en-US" sz="1500" kern="0" dirty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rPr>
                <a:t>Visual Studio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0463973" y="1544640"/>
            <a:ext cx="1722117" cy="1129904"/>
            <a:chOff x="10299810" y="3711274"/>
            <a:chExt cx="1756898" cy="1152725"/>
          </a:xfrm>
        </p:grpSpPr>
        <p:sp>
          <p:nvSpPr>
            <p:cNvPr id="36" name="TextBox 35"/>
            <p:cNvSpPr txBox="1"/>
            <p:nvPr/>
          </p:nvSpPr>
          <p:spPr>
            <a:xfrm>
              <a:off x="10299810" y="4356589"/>
              <a:ext cx="1756898" cy="507410"/>
            </a:xfrm>
            <a:prstGeom prst="rect">
              <a:avLst/>
            </a:prstGeom>
            <a:noFill/>
          </p:spPr>
          <p:txBody>
            <a:bodyPr wrap="square" lIns="91427" tIns="143407" rIns="91427" bIns="143407" rtlCol="0">
              <a:spAutoFit/>
            </a:bodyPr>
            <a:lstStyle/>
            <a:p>
              <a:pPr algn="ctr" defTabSz="896042">
                <a:lnSpc>
                  <a:spcPct val="90000"/>
                </a:lnSpc>
                <a:defRPr/>
              </a:pPr>
              <a:r>
                <a:rPr lang="en-US" sz="1500" kern="0" dirty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rPr>
                <a:t>Visual Studio Code</a:t>
              </a:r>
            </a:p>
          </p:txBody>
        </p:sp>
        <p:pic>
          <p:nvPicPr>
            <p:cNvPr id="39" name="Picture 38"/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rgbClr val="0078D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4" r="11806"/>
            <a:stretch/>
          </p:blipFill>
          <p:spPr bwMode="auto">
            <a:xfrm>
              <a:off x="10841216" y="3711274"/>
              <a:ext cx="518672" cy="932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021" y="2360278"/>
            <a:ext cx="914400" cy="914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22298" y="3058268"/>
            <a:ext cx="1927040" cy="497336"/>
          </a:xfrm>
          <a:prstGeom prst="rect">
            <a:avLst/>
          </a:prstGeom>
          <a:noFill/>
        </p:spPr>
        <p:txBody>
          <a:bodyPr wrap="square" lIns="91427" tIns="143407" rIns="91427" bIns="143407" rtlCol="0">
            <a:spAutoFit/>
          </a:bodyPr>
          <a:lstStyle/>
          <a:p>
            <a:pPr algn="ctr" defTabSz="896042">
              <a:lnSpc>
                <a:spcPct val="90000"/>
              </a:lnSpc>
              <a:defRPr/>
            </a:pPr>
            <a:r>
              <a:rPr lang="en-US" sz="1500" kern="0" dirty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rPr>
              <a:t>Xamarin Studio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23025" y="3073365"/>
            <a:ext cx="1927040" cy="497336"/>
          </a:xfrm>
          <a:prstGeom prst="rect">
            <a:avLst/>
          </a:prstGeom>
          <a:noFill/>
        </p:spPr>
        <p:txBody>
          <a:bodyPr wrap="square" lIns="91427" tIns="143407" rIns="91427" bIns="143407" rtlCol="0">
            <a:spAutoFit/>
          </a:bodyPr>
          <a:lstStyle/>
          <a:p>
            <a:pPr algn="ctr" defTabSz="896042">
              <a:lnSpc>
                <a:spcPct val="90000"/>
              </a:lnSpc>
              <a:defRPr/>
            </a:pPr>
            <a:r>
              <a:rPr lang="en-US" sz="1500" kern="0" dirty="0" smtClea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rPr>
              <a:t>.NET CLI</a:t>
            </a:r>
            <a:endParaRPr lang="en-US" sz="1500" kern="0" dirty="0">
              <a:gradFill>
                <a:gsLst>
                  <a:gs pos="2804">
                    <a:srgbClr val="505050"/>
                  </a:gs>
                  <a:gs pos="26000">
                    <a:srgbClr val="505050"/>
                  </a:gs>
                </a:gsLst>
                <a:lin ang="5400000" scaled="1"/>
              </a:gradFill>
              <a:cs typeface="Segoe UI Semilight" panose="020B04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flipH="1">
            <a:off x="10968798" y="2484818"/>
            <a:ext cx="711669" cy="7116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28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585283" y="579377"/>
            <a:ext cx="9217395" cy="6092553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0" cap="none" spc="0" normalizeH="0" baseline="0" noProof="0" dirty="0">
              <a:ln>
                <a:noFill/>
              </a:ln>
              <a:gradFill>
                <a:gsLst>
                  <a:gs pos="125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cs typeface="Segoe UI Semibold" panose="020B07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45213" y="5843438"/>
            <a:ext cx="8515943" cy="537849"/>
            <a:chOff x="1646287" y="5572667"/>
            <a:chExt cx="8686705" cy="548634"/>
          </a:xfrm>
        </p:grpSpPr>
        <p:sp>
          <p:nvSpPr>
            <p:cNvPr id="3" name="Rectangle 2"/>
            <p:cNvSpPr/>
            <p:nvPr/>
          </p:nvSpPr>
          <p:spPr bwMode="auto">
            <a:xfrm>
              <a:off x="1646287" y="5572667"/>
              <a:ext cx="8686705" cy="548634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480896" y="5574602"/>
              <a:ext cx="5577780" cy="544765"/>
            </a:xfrm>
            <a:prstGeom prst="rect">
              <a:avLst/>
            </a:prstGeom>
            <a:no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Primitives • Collections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Reflection</a:t>
              </a:r>
              <a:r>
                <a:rPr lang="fr-FR" sz="1765" kern="0" dirty="0">
                  <a:solidFill>
                    <a:schemeClr val="bg1"/>
                  </a:solidFill>
                </a:rPr>
                <a:t>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Interop</a:t>
              </a:r>
              <a:r>
                <a:rPr lang="fr-FR" sz="1765" kern="0" dirty="0">
                  <a:solidFill>
                    <a:schemeClr val="bg1"/>
                  </a:solidFill>
                </a:rPr>
                <a:t>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Linq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60677" y="5676168"/>
              <a:ext cx="777778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CORE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86028" y="4952454"/>
            <a:ext cx="8515943" cy="537849"/>
            <a:chOff x="1646287" y="4881583"/>
            <a:chExt cx="8686705" cy="548634"/>
          </a:xfrm>
        </p:grpSpPr>
        <p:sp>
          <p:nvSpPr>
            <p:cNvPr id="7" name="Rectangle 6"/>
            <p:cNvSpPr/>
            <p:nvPr/>
          </p:nvSpPr>
          <p:spPr bwMode="auto">
            <a:xfrm>
              <a:off x="1646287" y="4881583"/>
              <a:ext cx="8686705" cy="548634"/>
            </a:xfrm>
            <a:prstGeom prst="rect">
              <a:avLst/>
            </a:prstGeom>
            <a:solidFill>
              <a:srgbClr val="0078D7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0896" y="4883518"/>
              <a:ext cx="5577780" cy="544765"/>
            </a:xfrm>
            <a:prstGeom prst="rect">
              <a:avLst/>
            </a:prstGeom>
            <a:no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Threads • Thread Pool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Tasks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88782" y="4985084"/>
              <a:ext cx="1521571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THREADING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986028" y="4061468"/>
            <a:ext cx="8515943" cy="537849"/>
            <a:chOff x="1646287" y="4109887"/>
            <a:chExt cx="8686705" cy="548634"/>
          </a:xfrm>
          <a:solidFill>
            <a:srgbClr val="FF8C00"/>
          </a:solidFill>
        </p:grpSpPr>
        <p:sp>
          <p:nvSpPr>
            <p:cNvPr id="11" name="Rectangle 10"/>
            <p:cNvSpPr/>
            <p:nvPr/>
          </p:nvSpPr>
          <p:spPr bwMode="auto">
            <a:xfrm>
              <a:off x="1646287" y="4109887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80896" y="4111822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Files • Compression • MMF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33000" y="4213388"/>
              <a:ext cx="433132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IO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986028" y="3170482"/>
            <a:ext cx="8515943" cy="537849"/>
            <a:chOff x="1646287" y="3278906"/>
            <a:chExt cx="8686705" cy="548634"/>
          </a:xfrm>
          <a:solidFill>
            <a:srgbClr val="00BCF2"/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1646287" y="3278906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80896" y="3280841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Sockets • Http • Mail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WebSockets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73366" y="3382407"/>
              <a:ext cx="1752403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NETWORKING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986028" y="2279496"/>
            <a:ext cx="8515943" cy="537849"/>
            <a:chOff x="1646287" y="2550596"/>
            <a:chExt cx="8686705" cy="548634"/>
          </a:xfrm>
          <a:solidFill>
            <a:srgbClr val="505050"/>
          </a:solidFill>
        </p:grpSpPr>
        <p:sp>
          <p:nvSpPr>
            <p:cNvPr id="19" name="Rectangle 18"/>
            <p:cNvSpPr/>
            <p:nvPr/>
          </p:nvSpPr>
          <p:spPr bwMode="auto">
            <a:xfrm>
              <a:off x="1646287" y="2550596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80896" y="2552531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 err="1">
                  <a:solidFill>
                    <a:schemeClr val="bg1"/>
                  </a:solidFill>
                </a:rPr>
                <a:t>BinaryFormatter</a:t>
              </a:r>
              <a:r>
                <a:rPr lang="fr-FR" sz="1765" kern="0" dirty="0">
                  <a:solidFill>
                    <a:schemeClr val="bg1"/>
                  </a:solidFill>
                </a:rPr>
                <a:t> • Data </a:t>
              </a:r>
              <a:r>
                <a:rPr lang="fr-FR" sz="1765" kern="0" dirty="0" err="1">
                  <a:solidFill>
                    <a:schemeClr val="bg1"/>
                  </a:solidFill>
                </a:rPr>
                <a:t>Contract</a:t>
              </a:r>
              <a:r>
                <a:rPr lang="fr-FR" sz="1765" kern="0" dirty="0">
                  <a:solidFill>
                    <a:schemeClr val="bg1"/>
                  </a:solidFill>
                </a:rPr>
                <a:t> • XML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005923" y="2654097"/>
              <a:ext cx="1887286" cy="34351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SERIALIZATION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86028" y="1388510"/>
            <a:ext cx="8515943" cy="537849"/>
            <a:chOff x="1646287" y="1759921"/>
            <a:chExt cx="8686705" cy="548634"/>
          </a:xfrm>
          <a:solidFill>
            <a:srgbClr val="002050"/>
          </a:solidFill>
        </p:grpSpPr>
        <p:sp>
          <p:nvSpPr>
            <p:cNvPr id="23" name="Rectangle 22"/>
            <p:cNvSpPr/>
            <p:nvPr/>
          </p:nvSpPr>
          <p:spPr bwMode="auto">
            <a:xfrm>
              <a:off x="1646287" y="1759921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80896" y="1761856"/>
              <a:ext cx="5577780" cy="544793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 err="1">
                  <a:solidFill>
                    <a:schemeClr val="bg1"/>
                  </a:solidFill>
                </a:rPr>
                <a:t>XLinq</a:t>
              </a:r>
              <a:r>
                <a:rPr lang="fr-FR" sz="1765" kern="0" dirty="0">
                  <a:solidFill>
                    <a:schemeClr val="bg1"/>
                  </a:solidFill>
                </a:rPr>
                <a:t> • XML Document 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XPath</a:t>
              </a:r>
              <a:r>
                <a:rPr lang="fr-FR" sz="1765" kern="0" dirty="0">
                  <a:solidFill>
                    <a:schemeClr val="bg1"/>
                  </a:solidFill>
                </a:rPr>
                <a:t> • XSD • XSL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11973" y="1863422"/>
              <a:ext cx="675185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XML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4892787" y="778341"/>
            <a:ext cx="240642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224">
              <a:lnSpc>
                <a:spcPct val="90000"/>
              </a:lnSpc>
              <a:defRPr/>
            </a:pPr>
            <a:r>
              <a:rPr lang="en-US" b="1" kern="0" dirty="0">
                <a:solidFill>
                  <a:sysClr val="windowText" lastClr="000000"/>
                </a:solidFill>
                <a:latin typeface="Segoe UI"/>
                <a:cs typeface="Segoe UI Semibold" panose="020B0702040204020203" pitchFamily="34" charset="0"/>
              </a:rPr>
              <a:t>.NET STANDARD 2.0</a:t>
            </a:r>
          </a:p>
        </p:txBody>
      </p:sp>
    </p:spTree>
    <p:extLst>
      <p:ext uri="{BB962C8B-B14F-4D97-AF65-F5344CB8AC3E}">
        <p14:creationId xmlns:p14="http://schemas.microsoft.com/office/powerpoint/2010/main" val="345550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13354" y="3498112"/>
            <a:ext cx="2256095" cy="144695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3268372" y="3068506"/>
            <a:ext cx="2913381" cy="621565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 Standard Library 1.x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203" y="4310190"/>
            <a:ext cx="2913381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Standard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22"/>
          <p:cNvCxnSpPr>
            <a:cxnSpLocks/>
            <a:stCxn id="5" idx="2"/>
            <a:endCxn id="6" idx="0"/>
          </p:cNvCxnSpPr>
          <p:nvPr/>
        </p:nvCxnSpPr>
        <p:spPr>
          <a:xfrm rot="5400000">
            <a:off x="2935920" y="2521046"/>
            <a:ext cx="620119" cy="295816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68373" y="4310190"/>
            <a:ext cx="2913382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Portable Class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Arrow Connector 10"/>
          <p:cNvCxnSpPr>
            <a:cxnSpLocks/>
            <a:stCxn id="5" idx="2"/>
            <a:endCxn id="9" idx="0"/>
          </p:cNvCxnSpPr>
          <p:nvPr/>
        </p:nvCxnSpPr>
        <p:spPr>
          <a:xfrm>
            <a:off x="4725063" y="3690071"/>
            <a:ext cx="1" cy="62011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204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73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543" y="1807577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cxnSp>
        <p:nvCxnSpPr>
          <p:cNvPr id="19" name="Straight Arrow Connector 18"/>
          <p:cNvCxnSpPr>
            <a:cxnSpLocks/>
            <a:stCxn id="17" idx="2"/>
            <a:endCxn id="5" idx="0"/>
          </p:cNvCxnSpPr>
          <p:nvPr/>
        </p:nvCxnSpPr>
        <p:spPr>
          <a:xfrm flipH="1">
            <a:off x="4725063" y="2435074"/>
            <a:ext cx="1" cy="633432"/>
          </a:xfrm>
          <a:prstGeom prst="straightConnector1">
            <a:avLst/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2929263" y="1272706"/>
            <a:ext cx="633432" cy="2958168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2"/>
          <p:cNvCxnSpPr>
            <a:cxnSpLocks/>
            <a:stCxn id="18" idx="2"/>
            <a:endCxn id="5" idx="0"/>
          </p:cNvCxnSpPr>
          <p:nvPr/>
        </p:nvCxnSpPr>
        <p:spPr>
          <a:xfrm rot="5400000">
            <a:off x="5887434" y="1272705"/>
            <a:ext cx="633431" cy="2958171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13354" y="2845137"/>
            <a:ext cx="2256095" cy="2099930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Rectangle 14"/>
          <p:cNvSpPr/>
          <p:nvPr/>
        </p:nvSpPr>
        <p:spPr>
          <a:xfrm>
            <a:off x="9627653" y="4440985"/>
            <a:ext cx="1937658" cy="359228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Via Portability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7652" y="2998296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Legend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7653" y="3934622"/>
            <a:ext cx="1937658" cy="35922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Application Type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9627652" y="3656875"/>
            <a:ext cx="470269" cy="57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27512" y="3528254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Is able to reference</a:t>
            </a:r>
          </a:p>
        </p:txBody>
      </p:sp>
    </p:spTree>
    <p:extLst>
      <p:ext uri="{BB962C8B-B14F-4D97-AF65-F5344CB8AC3E}">
        <p14:creationId xmlns:p14="http://schemas.microsoft.com/office/powerpoint/2010/main" val="216146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13354" y="2355112"/>
            <a:ext cx="2256095" cy="2589955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3268372" y="3068506"/>
            <a:ext cx="2913381" cy="621565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 Standard Library 2.x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421" y="4310190"/>
            <a:ext cx="2913381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Standard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22"/>
          <p:cNvCxnSpPr>
            <a:cxnSpLocks/>
            <a:stCxn id="5" idx="2"/>
            <a:endCxn id="6" idx="0"/>
          </p:cNvCxnSpPr>
          <p:nvPr/>
        </p:nvCxnSpPr>
        <p:spPr>
          <a:xfrm rot="5400000">
            <a:off x="2925529" y="2510655"/>
            <a:ext cx="620119" cy="2978951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26543" y="4310190"/>
            <a:ext cx="2913381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Framework Library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373" y="4310190"/>
            <a:ext cx="2913382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Portable Class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" name="Straight Arrow Connector 22"/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894089" y="2521044"/>
            <a:ext cx="620119" cy="2958171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2"/>
            <a:endCxn id="9" idx="0"/>
          </p:cNvCxnSpPr>
          <p:nvPr/>
        </p:nvCxnSpPr>
        <p:spPr>
          <a:xfrm>
            <a:off x="4725063" y="3690071"/>
            <a:ext cx="1" cy="62011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627652" y="4096435"/>
            <a:ext cx="1937658" cy="359228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Library</a:t>
            </a:r>
            <a:endParaRPr 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7652" y="2508272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Legend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204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73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543" y="1807577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cxnSp>
        <p:nvCxnSpPr>
          <p:cNvPr id="19" name="Straight Arrow Connector 18"/>
          <p:cNvCxnSpPr>
            <a:cxnSpLocks/>
            <a:stCxn id="17" idx="2"/>
            <a:endCxn id="5" idx="0"/>
          </p:cNvCxnSpPr>
          <p:nvPr/>
        </p:nvCxnSpPr>
        <p:spPr>
          <a:xfrm flipH="1">
            <a:off x="4725063" y="2435074"/>
            <a:ext cx="1" cy="63343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2929263" y="1272706"/>
            <a:ext cx="633432" cy="2958168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2"/>
          <p:cNvCxnSpPr>
            <a:cxnSpLocks/>
            <a:stCxn id="18" idx="2"/>
            <a:endCxn id="5" idx="0"/>
          </p:cNvCxnSpPr>
          <p:nvPr/>
        </p:nvCxnSpPr>
        <p:spPr>
          <a:xfrm rot="5400000">
            <a:off x="5887434" y="1272705"/>
            <a:ext cx="633431" cy="2958171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27653" y="3527726"/>
            <a:ext cx="1937658" cy="35922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Application Type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>
            <a:off x="9627652" y="3166851"/>
            <a:ext cx="470269" cy="57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27512" y="3038230"/>
            <a:ext cx="12747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MSBuild Reference</a:t>
            </a:r>
            <a:endParaRPr lang="en-US" sz="11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9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293</Words>
  <Application>Microsoft Macintosh PowerPoint</Application>
  <PresentationFormat>Widescreen</PresentationFormat>
  <Paragraphs>129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Calibri Light</vt:lpstr>
      <vt:lpstr>Segoe UI</vt:lpstr>
      <vt:lpstr>Segoe UI Light</vt:lpstr>
      <vt:lpstr>Segoe UI Semibold</vt:lpstr>
      <vt:lpstr>Segoe UI Semilight</vt:lpstr>
      <vt:lpstr>Arial</vt:lpstr>
      <vt:lpstr>Office Theme</vt:lpstr>
      <vt:lpstr>PowerPoint Presentation</vt:lpstr>
      <vt:lpstr>PowerPoint Presentation</vt:lpstr>
      <vt:lpstr>PowerPoint Presentation</vt:lpstr>
      <vt:lpstr>.NET platform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Immo Landwerth</dc:creator>
  <cp:lastModifiedBy>Richard Lander</cp:lastModifiedBy>
  <cp:revision>36</cp:revision>
  <dcterms:created xsi:type="dcterms:W3CDTF">2016-09-13T15:27:39Z</dcterms:created>
  <dcterms:modified xsi:type="dcterms:W3CDTF">2016-10-13T17:25:40Z</dcterms:modified>
</cp:coreProperties>
</file>